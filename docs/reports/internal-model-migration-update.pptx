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14"/>
    <p:sldId id="265" r:id="rId15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30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303C46"/>
                </a:solidFill>
                <a:latin typeface="Segoe UI"/>
              </a:rPr>
              <a:t>Objective &amp; POC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Proof of Concept phase — internal model serving via Token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73152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64748B"/>
                </a:solidFill>
                <a:latin typeface="Segoe UI"/>
              </a:rPr>
              <a:t>Internal Model Migration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078992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 dirty="0">
                <a:solidFill>
                  <a:srgbClr val="64748B"/>
                </a:solidFill>
                <a:latin typeface="Segoe UI"/>
              </a:rPr>
              <a:t>1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E00000"/>
                </a:solidFill>
                <a:latin typeface="Segoe UI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5257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>
                <a:solidFill>
                  <a:srgbClr val="374151"/>
                </a:solidFill>
                <a:latin typeface="Segoe UI"/>
              </a:rPr>
              <a:t>Migrate CX voice AI from Gemini (external API) to internal models served on Token Factory — customer voice data processed inside True.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74151"/>
                </a:solidFill>
                <a:latin typeface="Segoe UI"/>
              </a:rPr>
              <a:t>Driver: </a:t>
            </a:r>
            <a:r>
              <a:rPr sz="1050" b="0" i="0">
                <a:solidFill>
                  <a:srgbClr val="64748B"/>
                </a:solidFill>
                <a:latin typeface="Segoe UI"/>
              </a:rPr>
              <a:t>POC the internal-GPU setup and Intelligence Layer components in our own ecosystem — not just this one use case. Once proven, the same platform scales to every model we bring in-house.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10128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465576"/>
            <a:ext cx="4892040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dirty="0">
                <a:solidFill>
                  <a:srgbClr val="374151"/>
                </a:solidFill>
                <a:latin typeface="Segoe UI"/>
              </a:rPr>
              <a:t>Approach:  </a:t>
            </a:r>
            <a:endParaRPr lang="en-US" sz="1000" b="1" dirty="0">
              <a:solidFill>
                <a:srgbClr val="374151"/>
              </a:solidFill>
              <a:latin typeface="Segoe UI"/>
            </a:endParaRPr>
          </a:p>
          <a:p>
            <a:pPr marL="228600" indent="-228600" algn="l">
              <a:spcAft>
                <a:spcPts val="400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374151"/>
                </a:solidFill>
                <a:latin typeface="Segoe UI"/>
              </a:rPr>
              <a:t>B</a:t>
            </a:r>
            <a:r>
              <a:rPr sz="1000" b="0" i="0" dirty="0">
                <a:solidFill>
                  <a:srgbClr val="374151"/>
                </a:solidFill>
                <a:latin typeface="Segoe UI"/>
              </a:rPr>
              <a:t>enchmark vs Gemini</a:t>
            </a:r>
            <a:r>
              <a:rPr lang="en-US" sz="1000" b="0" i="0" dirty="0">
                <a:solidFill>
                  <a:srgbClr val="374151"/>
                </a:solidFill>
                <a:latin typeface="Segoe UI"/>
              </a:rPr>
              <a:t>. </a:t>
            </a:r>
          </a:p>
          <a:p>
            <a:pPr marL="228600" indent="-228600" algn="l">
              <a:spcAft>
                <a:spcPts val="400"/>
              </a:spcAft>
              <a:buFont typeface="+mj-lt"/>
              <a:buAutoNum type="arabicPeriod"/>
            </a:pPr>
            <a:r>
              <a:rPr sz="1000" b="0" i="0" dirty="0">
                <a:solidFill>
                  <a:srgbClr val="374151"/>
                </a:solidFill>
                <a:latin typeface="Segoe UI"/>
              </a:rPr>
              <a:t>Apps stay on Gemini until they pass their quality gate.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315968"/>
            <a:ext cx="52578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462272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E00000"/>
                </a:solidFill>
                <a:latin typeface="Segoe UI"/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81728"/>
            <a:ext cx="4892040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400"/>
              </a:spcAft>
              <a:buFont typeface="+mj-lt"/>
              <a:buAutoNum type="arabicPeriod"/>
            </a:pPr>
            <a:r>
              <a:rPr sz="1000" b="0" i="0" dirty="0">
                <a:solidFill>
                  <a:srgbClr val="374151"/>
                </a:solidFill>
                <a:latin typeface="Segoe UI"/>
              </a:rPr>
              <a:t>Access request sent to AI First / GPU team</a:t>
            </a:r>
            <a:endParaRPr lang="en-US" sz="1000" dirty="0">
              <a:solidFill>
                <a:srgbClr val="374151"/>
              </a:solidFill>
              <a:latin typeface="Segoe UI"/>
            </a:endParaRPr>
          </a:p>
          <a:p>
            <a:pPr marL="228600" indent="-228600" algn="l">
              <a:spcAft>
                <a:spcPts val="400"/>
              </a:spcAft>
              <a:buFont typeface="+mj-lt"/>
              <a:buAutoNum type="arabicPeriod"/>
            </a:pPr>
            <a:r>
              <a:rPr lang="en-US" sz="1000" b="0" i="0" dirty="0">
                <a:solidFill>
                  <a:srgbClr val="374151"/>
                </a:solidFill>
                <a:latin typeface="Segoe UI"/>
              </a:rPr>
              <a:t>A</a:t>
            </a:r>
            <a:r>
              <a:rPr sz="1000" b="0" i="0" dirty="0">
                <a:solidFill>
                  <a:srgbClr val="374151"/>
                </a:solidFill>
                <a:latin typeface="Segoe UI"/>
              </a:rPr>
              <a:t>waiting Token Factory endpoint + API key</a:t>
            </a:r>
            <a:endParaRPr lang="en-US" sz="1000" b="0" i="0" dirty="0">
              <a:solidFill>
                <a:srgbClr val="374151"/>
              </a:solidFill>
              <a:latin typeface="Segoe UI"/>
            </a:endParaRPr>
          </a:p>
          <a:p>
            <a:pPr marL="228600" indent="-228600" algn="l">
              <a:spcAft>
                <a:spcPts val="400"/>
              </a:spcAft>
              <a:buFont typeface="+mj-lt"/>
              <a:buAutoNum type="arabicPeriod"/>
            </a:pPr>
            <a:r>
              <a:rPr lang="en-US" sz="1000" b="0" i="0" dirty="0">
                <a:solidFill>
                  <a:srgbClr val="374151"/>
                </a:solidFill>
                <a:latin typeface="Segoe UI"/>
              </a:rPr>
              <a:t>Codebase migration</a:t>
            </a:r>
            <a:endParaRPr sz="1000" b="0" i="0" dirty="0">
              <a:solidFill>
                <a:srgbClr val="374151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63640" y="1417320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E00000"/>
                </a:solidFill>
                <a:latin typeface="Segoe UI"/>
              </a:rPr>
              <a:t>POC SPECIFICATION — AS REQUESTED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700784"/>
            <a:ext cx="5422392" cy="329184"/>
          </a:xfrm>
          <a:prstGeom prst="rect">
            <a:avLst/>
          </a:prstGeom>
          <a:solidFill>
            <a:srgbClr val="303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1764792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Component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1764792"/>
            <a:ext cx="32644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POC choice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029968"/>
            <a:ext cx="5422392" cy="329184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6792" y="2080260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Speech-to-text (ASR)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080260"/>
            <a:ext cx="32644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Qwen3-ASR-1.7B · installation requested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359152"/>
            <a:ext cx="54223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240944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Language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409444"/>
            <a:ext cx="326440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 dirty="0">
                <a:solidFill>
                  <a:srgbClr val="374151"/>
                </a:solidFill>
                <a:latin typeface="Segoe UI"/>
              </a:rPr>
              <a:t>Qwen3.6-27B · Gemma-4-12B-it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688336"/>
            <a:ext cx="5422392" cy="329184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6792" y="2738628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GPU — current setup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2738628"/>
            <a:ext cx="32644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1× NVIDIA H100 NVL · ~94 GB VRAM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017520"/>
            <a:ext cx="54223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6792" y="3067812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Serving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3067812"/>
            <a:ext cx="32644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Token Factory endpoint (OpenAI-compatible API)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346703"/>
            <a:ext cx="5422392" cy="329184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36792" y="3396996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Connectivity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3396996"/>
            <a:ext cx="32644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Cloud NAT fixed IP — 2 clients whitelisted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675887"/>
            <a:ext cx="54223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36792" y="3726179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Documentation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3726179"/>
            <a:ext cx="32644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Token Factory docs + API specification requested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005072"/>
            <a:ext cx="5422392" cy="329184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36792" y="4055363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Benchmark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2" y="4055363"/>
            <a:ext cx="32644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74151"/>
                </a:solidFill>
                <a:latin typeface="Segoe UI"/>
              </a:rPr>
              <a:t>Real calls, scored with the production fact-checker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535424"/>
            <a:ext cx="5422392" cy="658368"/>
          </a:xfrm>
          <a:prstGeom prst="roundRect">
            <a:avLst>
              <a:gd name="adj" fmla="val 6000"/>
            </a:avLst>
          </a:prstGeom>
          <a:solidFill>
            <a:srgbClr val="BE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4681728"/>
            <a:ext cx="505663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03C46"/>
                </a:solidFill>
                <a:latin typeface="Segoe UI"/>
              </a:rPr>
              <a:t>Why this family:  </a:t>
            </a:r>
            <a:r>
              <a:rPr sz="1000" b="0" i="0">
                <a:solidFill>
                  <a:srgbClr val="303C46"/>
                </a:solidFill>
                <a:latin typeface="Segoe UI"/>
              </a:rPr>
              <a:t>Qwen supports Thai across ASR + text, Apache-2.0 licence, and both LLMs are already curated in the Token Factory catalogue.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303C46"/>
                </a:solidFill>
                <a:latin typeface="Segoe UI"/>
              </a:rPr>
              <a:t>Migration Scope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Use-case by use-case — each migrates only when it beats its quality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Internal Model Migration — CDAO update · 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078992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 dirty="0">
                <a:solidFill>
                  <a:srgbClr val="64748B"/>
                </a:solidFill>
                <a:latin typeface="Segoe UI"/>
              </a:rPr>
              <a:t>2 / 10</a:t>
            </a:r>
            <a:endParaRPr sz="850" b="0" i="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427464" y="411480"/>
            <a:ext cx="2258568" cy="310896"/>
          </a:xfrm>
          <a:prstGeom prst="roundRect">
            <a:avLst>
              <a:gd name="adj" fmla="val 6000"/>
            </a:avLst>
          </a:prstGeom>
          <a:solidFill>
            <a:srgbClr val="FFF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27464" y="493776"/>
            <a:ext cx="22585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8A5E00"/>
                </a:solidFill>
                <a:latin typeface="Segoe UI"/>
              </a:rPr>
              <a:t>TIMELINE TBC — pending POC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11183112" cy="310896"/>
          </a:xfrm>
          <a:prstGeom prst="rect">
            <a:avLst/>
          </a:prstGeom>
          <a:solidFill>
            <a:srgbClr val="303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389888"/>
            <a:ext cx="2560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389888"/>
            <a:ext cx="28437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Use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8496" y="1389888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Model (all on GCP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9552" y="1389888"/>
            <a:ext cx="10881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1389888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Forecast /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389888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Actual /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3496" y="1389888"/>
            <a:ext cx="10881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THB / mo (Jun)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7936" y="1389888"/>
            <a:ext cx="6949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Wave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636776"/>
            <a:ext cx="11183112" cy="269748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1687068"/>
            <a:ext cx="25603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1687068"/>
            <a:ext cx="284378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Sentiment Analysis — Retention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1687068"/>
            <a:ext cx="144475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Gemini 2.5 Flash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9552" y="1687068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1687068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101,160 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1687068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5,928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3496" y="1687068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1,200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7936" y="1687068"/>
            <a:ext cx="69494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Wave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906524"/>
            <a:ext cx="11183112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" y="1956816"/>
            <a:ext cx="25603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1956816"/>
            <a:ext cx="284378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Sentiment Analysis — MNP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8496" y="1956816"/>
            <a:ext cx="144475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Gemini 2.5 Flash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1956816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1956816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107,700 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4" y="1956816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7,842 files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1956816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1,800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17936" y="1956816"/>
            <a:ext cx="69494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Wave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176272"/>
            <a:ext cx="11183112" cy="269748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6072" y="2226564"/>
            <a:ext cx="25603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" y="2226564"/>
            <a:ext cx="284378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Sentiment Analysis — QA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68496" y="2226564"/>
            <a:ext cx="144475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Gemini 2.5 Flash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59552" y="2226564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Production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93992" y="2226564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304,461 files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8744" y="2226564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64,232 files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2226564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33,660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7936" y="2226564"/>
            <a:ext cx="69494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Wave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2446020"/>
            <a:ext cx="11183112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76072" y="2496312"/>
            <a:ext cx="25603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" y="2496312"/>
            <a:ext cx="284378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Sentiment Analysis — QA Telesales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68496" y="2496312"/>
            <a:ext cx="144475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Gemini 2.5 Flash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59552" y="2496312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Production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93992" y="2496312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103,110 files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2496312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5,385 files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83496" y="2496312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1,800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17936" y="2496312"/>
            <a:ext cx="69494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Wave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2715768"/>
            <a:ext cx="11183112" cy="269748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072" y="2766060"/>
            <a:ext cx="25603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900" b="0" i="0" dirty="0">
                <a:solidFill>
                  <a:srgbClr val="374151"/>
                </a:solidFill>
                <a:latin typeface="Segoe UI"/>
              </a:rPr>
              <a:t>5</a:t>
            </a:r>
            <a:endParaRPr sz="900" b="0" i="0" dirty="0">
              <a:solidFill>
                <a:srgbClr val="374151"/>
              </a:solidFill>
              <a:latin typeface="Segoe U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8408" y="2766060"/>
            <a:ext cx="284378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RTR Fraud Detection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68496" y="2766060"/>
            <a:ext cx="144475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Gemini 2.5 Flash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9552" y="2766060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Production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93992" y="2766060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150,000 photos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38744" y="2766060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100,000 photos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83496" y="2766060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2,000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17936" y="2766060"/>
            <a:ext cx="69494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Wave 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2985515"/>
            <a:ext cx="11183112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76072" y="3035808"/>
            <a:ext cx="25603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900" dirty="0">
                <a:solidFill>
                  <a:srgbClr val="374151"/>
                </a:solidFill>
                <a:latin typeface="Segoe UI"/>
              </a:rPr>
              <a:t>6</a:t>
            </a:r>
            <a:endParaRPr sz="900" b="0" i="0" dirty="0">
              <a:solidFill>
                <a:srgbClr val="374151"/>
              </a:solidFill>
              <a:latin typeface="Segoe U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78408" y="3035808"/>
            <a:ext cx="284378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AI Tax Invoice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68496" y="3035808"/>
            <a:ext cx="144475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Gemini 3.1 Pro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9552" y="3035808"/>
            <a:ext cx="108813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900" b="0" i="0" dirty="0">
                <a:solidFill>
                  <a:srgbClr val="374151"/>
                </a:solidFill>
                <a:latin typeface="Segoe UI"/>
              </a:rPr>
              <a:t>Production</a:t>
            </a:r>
            <a:endParaRPr sz="900" b="0" i="0" dirty="0">
              <a:solidFill>
                <a:srgbClr val="374151"/>
              </a:solidFill>
              <a:latin typeface="Segoe UI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793992" y="3035808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3,000 pages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38744" y="3035808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83496" y="3035808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17936" y="3035808"/>
            <a:ext cx="69494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Wave 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3255263"/>
            <a:ext cx="11183112" cy="269748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76072" y="3305556"/>
            <a:ext cx="25603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900" b="0" i="0" dirty="0">
                <a:solidFill>
                  <a:srgbClr val="374151"/>
                </a:solidFill>
                <a:latin typeface="Segoe UI"/>
              </a:rPr>
              <a:t>7</a:t>
            </a:r>
            <a:endParaRPr sz="900" b="0" i="0" dirty="0">
              <a:solidFill>
                <a:srgbClr val="374151"/>
              </a:solidFill>
              <a:latin typeface="Segoe UI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78408" y="3305556"/>
            <a:ext cx="284378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Workflow Automation (Topic 21, 22)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68496" y="3305556"/>
            <a:ext cx="144475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Gemini 2.5 Pro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59552" y="3305556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Production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93992" y="3305556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100 pages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38744" y="3305556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20 pages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3496" y="3305556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7,000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17936" y="3305556"/>
            <a:ext cx="69494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Wave 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3525011"/>
            <a:ext cx="11183112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76072" y="3575303"/>
            <a:ext cx="25603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8408" y="3575303"/>
            <a:ext cx="284378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Commission Tax Invoice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68496" y="3575303"/>
            <a:ext cx="144475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Agentspace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59552" y="3575303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Production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93992" y="3575303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38744" y="3575303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1,500 pages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83496" y="3575303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2,310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17936" y="3575303"/>
            <a:ext cx="69494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Wave 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02920" y="3794759"/>
            <a:ext cx="11183112" cy="269748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76072" y="3845051"/>
            <a:ext cx="25603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78408" y="3845051"/>
            <a:ext cx="284378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Rental Fee Invoice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68496" y="3845051"/>
            <a:ext cx="144475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Agentspace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59552" y="3845051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Production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793992" y="3845051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38744" y="3845051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250 pages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83496" y="3845051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917936" y="3845051"/>
            <a:ext cx="69494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Wave 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" y="4064507"/>
            <a:ext cx="11183112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76072" y="4114799"/>
            <a:ext cx="25603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78408" y="4114799"/>
            <a:ext cx="284378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Market Research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68496" y="4114799"/>
            <a:ext cx="144475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Agentspace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59552" y="4114799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Production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93992" y="4114799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38744" y="4114799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N/A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83496" y="4114799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20,790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917936" y="4114799"/>
            <a:ext cx="69494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Wave 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02920" y="4334255"/>
            <a:ext cx="11183112" cy="269748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76072" y="4384547"/>
            <a:ext cx="25603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78408" y="4384547"/>
            <a:ext cx="284378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Total external AI spend — June 2026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68496" y="4384547"/>
            <a:ext cx="1444752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559552" y="4384547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793992" y="4384547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238744" y="4384547"/>
            <a:ext cx="1298448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9683496" y="4384547"/>
            <a:ext cx="1088136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E00000"/>
                </a:solidFill>
                <a:latin typeface="Segoe UI"/>
              </a:rPr>
              <a:t>≈ 70,560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917936" y="4384547"/>
            <a:ext cx="694944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502920" y="4828032"/>
            <a:ext cx="3566160" cy="731520"/>
          </a:xfrm>
          <a:prstGeom prst="roundRect">
            <a:avLst>
              <a:gd name="adj" fmla="val 6000"/>
            </a:avLst>
          </a:prstGeom>
          <a:solidFill>
            <a:srgbClr val="BE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67512" y="493776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303C46"/>
                </a:solidFill>
                <a:latin typeface="Segoe UI"/>
              </a:rPr>
              <a:t>Sovereign AI.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374151"/>
                </a:solidFill>
                <a:latin typeface="Segoe UI"/>
              </a:rPr>
              <a:t>Customer voice, photos and tax documents processed inside True's DC — PDPA by architecture, not by contract. Rests on the substrate decision (page 6).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251959" y="4828032"/>
            <a:ext cx="3566160" cy="731520"/>
          </a:xfrm>
          <a:prstGeom prst="roundRect">
            <a:avLst>
              <a:gd name="adj" fmla="val 6000"/>
            </a:avLst>
          </a:prstGeom>
          <a:solidFill>
            <a:srgbClr val="FFF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416551" y="493776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303C46"/>
                </a:solidFill>
                <a:latin typeface="Segoe UI"/>
              </a:rPr>
              <a:t>~70K THB / month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374151"/>
                </a:solidFill>
                <a:latin typeface="Segoe UI"/>
              </a:rPr>
              <a:t>of external AI spend moves in-house — net saving confirmed at POC exit.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001000" y="4828032"/>
            <a:ext cx="3566160" cy="731520"/>
          </a:xfrm>
          <a:prstGeom prst="roundRect">
            <a:avLst>
              <a:gd name="adj" fmla="val 6000"/>
            </a:avLst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165592" y="493776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303C46"/>
                </a:solidFill>
                <a:latin typeface="Segoe UI"/>
              </a:rPr>
              <a:t>One platform.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374151"/>
                </a:solidFill>
                <a:latin typeface="Segoe UI"/>
              </a:rPr>
              <a:t>Reusable, monitored, no vendor lock-in — ready for every future use case.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02920" y="4572000"/>
            <a:ext cx="11183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1">
                <a:solidFill>
                  <a:srgbClr val="64748B"/>
                </a:solidFill>
                <a:latin typeface="Segoe UI"/>
              </a:rPr>
              <a:t>Sentiment QA (row 3) is Wave 1 but the highest-risk migration — sequence it last within the wave. See page 5.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85800" y="5833872"/>
            <a:ext cx="106070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731520" y="5760720"/>
            <a:ext cx="155448" cy="155448"/>
          </a:xfrm>
          <a:prstGeom prst="ellipse">
            <a:avLst/>
          </a:prstGeom>
          <a:solidFill>
            <a:srgbClr val="E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-288035" y="5961888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03C46"/>
                </a:solidFill>
                <a:latin typeface="Segoe UI"/>
              </a:rPr>
              <a:t>now</a:t>
            </a:r>
          </a:p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POC env</a:t>
            </a:r>
          </a:p>
        </p:txBody>
      </p:sp>
      <p:sp>
        <p:nvSpPr>
          <p:cNvPr id="126" name="Oval 125"/>
          <p:cNvSpPr/>
          <p:nvPr/>
        </p:nvSpPr>
        <p:spPr>
          <a:xfrm>
            <a:off x="3355848" y="5760720"/>
            <a:ext cx="155448" cy="155448"/>
          </a:xfrm>
          <a:prstGeom prst="ellipse">
            <a:avLst/>
          </a:prstGeom>
          <a:solidFill>
            <a:srgbClr val="007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2336291" y="5961888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03C46"/>
                </a:solidFill>
                <a:latin typeface="Segoe UI"/>
              </a:rPr>
              <a:t>6–11 Aug</a:t>
            </a:r>
          </a:p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Benchmark</a:t>
            </a:r>
          </a:p>
        </p:txBody>
      </p:sp>
      <p:sp>
        <p:nvSpPr>
          <p:cNvPr id="128" name="Oval 127"/>
          <p:cNvSpPr/>
          <p:nvPr/>
        </p:nvSpPr>
        <p:spPr>
          <a:xfrm>
            <a:off x="5980176" y="5760720"/>
            <a:ext cx="155448" cy="155448"/>
          </a:xfrm>
          <a:prstGeom prst="ellipse">
            <a:avLst/>
          </a:prstGeom>
          <a:solidFill>
            <a:srgbClr val="007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960620" y="5961888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03C46"/>
                </a:solidFill>
                <a:latin typeface="Segoe UI"/>
              </a:rPr>
              <a:t>13–14 Aug</a:t>
            </a:r>
          </a:p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4748B"/>
                </a:solidFill>
                <a:latin typeface="Segoe UI"/>
              </a:rPr>
              <a:t>Benchmark review with user — acceptance criteria</a:t>
            </a:r>
          </a:p>
        </p:txBody>
      </p:sp>
      <p:sp>
        <p:nvSpPr>
          <p:cNvPr id="130" name="Oval 129"/>
          <p:cNvSpPr/>
          <p:nvPr/>
        </p:nvSpPr>
        <p:spPr>
          <a:xfrm>
            <a:off x="8604504" y="5760720"/>
            <a:ext cx="155448" cy="155448"/>
          </a:xfrm>
          <a:prstGeom prst="ellipse">
            <a:avLst/>
          </a:prstGeom>
          <a:solidFill>
            <a:srgbClr val="007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584948" y="5961888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03C46"/>
                </a:solidFill>
                <a:latin typeface="Segoe UI"/>
              </a:rPr>
              <a:t>from 17 Aug · TBC</a:t>
            </a:r>
          </a:p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Pilot + UAT</a:t>
            </a:r>
          </a:p>
        </p:txBody>
      </p:sp>
      <p:sp>
        <p:nvSpPr>
          <p:cNvPr id="132" name="Oval 131"/>
          <p:cNvSpPr/>
          <p:nvPr/>
        </p:nvSpPr>
        <p:spPr>
          <a:xfrm>
            <a:off x="11228832" y="5760720"/>
            <a:ext cx="155448" cy="155448"/>
          </a:xfrm>
          <a:prstGeom prst="ellipse">
            <a:avLst/>
          </a:prstGeom>
          <a:solidFill>
            <a:srgbClr val="007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209276" y="5961888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03C46"/>
                </a:solidFill>
                <a:latin typeface="Segoe UI"/>
              </a:rPr>
              <a:t>13 Oct · TBC</a:t>
            </a:r>
          </a:p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Production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02920" y="1636776"/>
            <a:ext cx="11183112" cy="1618488"/>
          </a:xfrm>
          <a:prstGeom prst="rect">
            <a:avLst/>
          </a:prstGeom>
          <a:noFill/>
          <a:ln w="22225">
            <a:solidFill>
              <a:srgbClr val="E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8503920" y="1097280"/>
            <a:ext cx="3182112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sz="800" b="1">
                <a:solidFill>
                  <a:srgbClr val="E00000"/>
                </a:solidFill>
                <a:latin typeface="Segoe UI"/>
              </a:rPr>
              <a:t>WAVE 1 — CURRENT PROJECT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55448" y="2926080"/>
            <a:ext cx="3739896" cy="1737360"/>
          </a:xfrm>
          <a:prstGeom prst="roundRect">
            <a:avLst>
              <a:gd name="adj" fmla="val 3000"/>
            </a:avLst>
          </a:prstGeom>
          <a:solidFill>
            <a:srgbClr val="E8E8E8"/>
          </a:solidFill>
          <a:ln w="13970">
            <a:solidFill>
              <a:srgbClr val="00000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 rot="16200000">
            <a:off x="-566928" y="370332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Segoe UI"/>
              </a:rPr>
              <a:t>Token Factory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335024"/>
            <a:ext cx="2862072" cy="356616"/>
          </a:xfrm>
          <a:prstGeom prst="roundRect">
            <a:avLst>
              <a:gd name="adj" fmla="val 10000"/>
            </a:avLst>
          </a:prstGeom>
          <a:solidFill>
            <a:srgbClr val="3A7E22"/>
          </a:solidFill>
          <a:ln w="13970">
            <a:solidFill>
              <a:srgbClr val="ADE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Sovereign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13632" y="1335024"/>
            <a:ext cx="1243584" cy="356616"/>
          </a:xfrm>
          <a:prstGeom prst="roundRect">
            <a:avLst>
              <a:gd name="adj" fmla="val 10000"/>
            </a:avLst>
          </a:prstGeom>
          <a:solidFill>
            <a:srgbClr val="3A7E22"/>
          </a:solidFill>
          <a:ln w="13970">
            <a:solidFill>
              <a:srgbClr val="ADE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Non-Sovereign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2057400"/>
            <a:ext cx="5303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3A7E22"/>
                </a:solidFill>
                <a:latin typeface="Segoe UI"/>
              </a:rPr>
              <a:t>Solutions /</a:t>
            </a:r>
          </a:p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3A7E22"/>
                </a:solidFill>
                <a:latin typeface="Segoe UI"/>
              </a:rPr>
              <a:t>Agents</a:t>
            </a:r>
          </a:p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3A7E22"/>
                </a:solidFill>
                <a:latin typeface="Segoe UI"/>
              </a:rPr>
              <a:t>(AaaS)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55547" y="1874519"/>
            <a:ext cx="0" cy="896113"/>
          </a:xfrm>
          <a:prstGeom prst="line">
            <a:avLst/>
          </a:prstGeom>
          <a:ln w="30480">
            <a:solidFill>
              <a:srgbClr val="3A7E22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29768" y="3008376"/>
            <a:ext cx="5303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3A7E22"/>
                </a:solidFill>
                <a:latin typeface="Segoe UI"/>
              </a:rPr>
              <a:t>Models</a:t>
            </a:r>
          </a:p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3A7E22"/>
                </a:solidFill>
                <a:latin typeface="Segoe UI"/>
              </a:rPr>
              <a:t>(MaaS)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55547" y="2990087"/>
            <a:ext cx="0" cy="393192"/>
          </a:xfrm>
          <a:prstGeom prst="line">
            <a:avLst/>
          </a:prstGeom>
          <a:ln w="30480">
            <a:solidFill>
              <a:srgbClr val="3A7E22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429768" y="3831335"/>
            <a:ext cx="5303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3A7E22"/>
                </a:solidFill>
                <a:latin typeface="Segoe UI"/>
              </a:rPr>
              <a:t>Infra</a:t>
            </a:r>
          </a:p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3A7E22"/>
                </a:solidFill>
                <a:latin typeface="Segoe UI"/>
              </a:rPr>
              <a:t>(GPUaaS)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7" y="3474720"/>
            <a:ext cx="0" cy="1097280"/>
          </a:xfrm>
          <a:prstGeom prst="line">
            <a:avLst/>
          </a:prstGeom>
          <a:ln w="30480">
            <a:solidFill>
              <a:srgbClr val="3A7E22"/>
            </a:solidFill>
          </a:ln>
          <a:effectLst/>
        </p:spPr>
      </p:cxnSp>
      <p:sp>
        <p:nvSpPr>
          <p:cNvPr id="12" name="Rounded Rectangle 11"/>
          <p:cNvSpPr/>
          <p:nvPr/>
        </p:nvSpPr>
        <p:spPr>
          <a:xfrm>
            <a:off x="1005840" y="1874519"/>
            <a:ext cx="2862072" cy="868680"/>
          </a:xfrm>
          <a:prstGeom prst="roundRect">
            <a:avLst>
              <a:gd name="adj" fmla="val 6000"/>
            </a:avLst>
          </a:prstGeom>
          <a:solidFill>
            <a:srgbClr val="ADE29A"/>
          </a:solidFill>
          <a:ln w="11430">
            <a:solidFill>
              <a:srgbClr val="3A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1560" y="1920239"/>
            <a:ext cx="2770632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5B4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1929384"/>
            <a:ext cx="2752344" cy="7589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Segoe UI"/>
              </a:rPr>
              <a:t>AI Intelligence Layer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5B5380"/>
                </a:solidFill>
                <a:latin typeface="Segoe UI"/>
              </a:rPr>
              <a:t>Agents / Low-code / No-code / RAG / RAI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13632" y="1874519"/>
            <a:ext cx="1243584" cy="877824"/>
          </a:xfrm>
          <a:prstGeom prst="roundRect">
            <a:avLst>
              <a:gd name="adj" fmla="val 6000"/>
            </a:avLst>
          </a:prstGeom>
          <a:solidFill>
            <a:srgbClr val="ADE29A"/>
          </a:solidFill>
          <a:ln w="11430">
            <a:solidFill>
              <a:srgbClr val="3A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959352" y="1920239"/>
            <a:ext cx="1152144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5B4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68496" y="1929384"/>
            <a:ext cx="1133856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1A1A1A"/>
                </a:solidFill>
                <a:latin typeface="Segoe UI"/>
              </a:rPr>
              <a:t>Hyperscaler platforms</a:t>
            </a:r>
          </a:p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1A1A1A"/>
                </a:solidFill>
                <a:latin typeface="Segoe UI"/>
              </a:rPr>
              <a:t>solutions &amp; agents</a:t>
            </a:r>
          </a:p>
          <a:p>
            <a:pPr algn="ctr">
              <a:spcAft>
                <a:spcPts val="0"/>
              </a:spcAft>
            </a:pPr>
            <a:r>
              <a:rPr sz="520" b="0" i="0">
                <a:solidFill>
                  <a:srgbClr val="5B5380"/>
                </a:solidFill>
                <a:latin typeface="Segoe UI"/>
              </a:rPr>
              <a:t>AWS, Azure, GCP, Alibaba,</a:t>
            </a:r>
          </a:p>
          <a:p>
            <a:pPr algn="ctr">
              <a:spcAft>
                <a:spcPts val="0"/>
              </a:spcAft>
            </a:pPr>
            <a:r>
              <a:rPr sz="520" b="0" i="0">
                <a:solidFill>
                  <a:srgbClr val="5B5380"/>
                </a:solidFill>
                <a:latin typeface="Segoe UI"/>
              </a:rPr>
              <a:t>Tencent agent ecosystems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2962656"/>
            <a:ext cx="2862072" cy="429768"/>
          </a:xfrm>
          <a:prstGeom prst="roundRect">
            <a:avLst>
              <a:gd name="adj" fmla="val 6000"/>
            </a:avLst>
          </a:prstGeom>
          <a:solidFill>
            <a:srgbClr val="ADE29A"/>
          </a:solidFill>
          <a:ln w="11430">
            <a:solidFill>
              <a:srgbClr val="3A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1560" y="3008376"/>
            <a:ext cx="2770632" cy="338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5B4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0704" y="3017520"/>
            <a:ext cx="2752344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Segoe UI"/>
              </a:rPr>
              <a:t>Sovereign Gen AI models</a:t>
            </a:r>
          </a:p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5B5380"/>
                </a:solidFill>
                <a:latin typeface="Segoe UI"/>
              </a:rPr>
              <a:t>Open-weight foundation model hosting, fine-tuning and adaptation services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13632" y="2962656"/>
            <a:ext cx="1243584" cy="429768"/>
          </a:xfrm>
          <a:prstGeom prst="roundRect">
            <a:avLst>
              <a:gd name="adj" fmla="val 6000"/>
            </a:avLst>
          </a:prstGeom>
          <a:solidFill>
            <a:srgbClr val="ADE29A"/>
          </a:solidFill>
          <a:ln w="30480">
            <a:solidFill>
              <a:srgbClr val="D4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959352" y="3008376"/>
            <a:ext cx="1152144" cy="338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5B4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68496" y="3017520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1A1A1A"/>
                </a:solidFill>
                <a:latin typeface="Segoe UI"/>
              </a:rPr>
              <a:t>Hyperscaler models</a:t>
            </a:r>
          </a:p>
          <a:p>
            <a:pPr algn="ctr">
              <a:spcAft>
                <a:spcPts val="0"/>
              </a:spcAft>
            </a:pPr>
            <a:r>
              <a:rPr sz="520" b="0" i="0">
                <a:solidFill>
                  <a:srgbClr val="5B5380"/>
                </a:solidFill>
                <a:latin typeface="Segoe UI"/>
              </a:rPr>
              <a:t>Claude, GPT, Gemini via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3456431"/>
            <a:ext cx="2862072" cy="420624"/>
          </a:xfrm>
          <a:prstGeom prst="roundRect">
            <a:avLst>
              <a:gd name="adj" fmla="val 6000"/>
            </a:avLst>
          </a:prstGeom>
          <a:solidFill>
            <a:srgbClr val="ADE29A"/>
          </a:solidFill>
          <a:ln w="11430">
            <a:solidFill>
              <a:srgbClr val="3A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1560" y="3502151"/>
            <a:ext cx="2770632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5B4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0704" y="3511295"/>
            <a:ext cx="27523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Segoe UI"/>
              </a:rPr>
              <a:t>Orchestration</a:t>
            </a:r>
          </a:p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5B5380"/>
                </a:solidFill>
                <a:latin typeface="Segoe UI"/>
              </a:rPr>
              <a:t>Rafay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3922776"/>
            <a:ext cx="2862072" cy="676656"/>
          </a:xfrm>
          <a:prstGeom prst="roundRect">
            <a:avLst>
              <a:gd name="adj" fmla="val 6000"/>
            </a:avLst>
          </a:prstGeom>
          <a:solidFill>
            <a:srgbClr val="ADE29A"/>
          </a:solidFill>
          <a:ln w="11430">
            <a:solidFill>
              <a:srgbClr val="3A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3977639"/>
            <a:ext cx="286207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2C2454"/>
                </a:solidFill>
                <a:latin typeface="Segoe UI"/>
              </a:rPr>
              <a:t>Sovereign infrastructure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17904" y="4169663"/>
            <a:ext cx="87782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4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2C2454"/>
                </a:solidFill>
                <a:latin typeface="Segoe UI"/>
              </a:rPr>
              <a:t>Sovereign GPU</a:t>
            </a:r>
          </a:p>
          <a:p>
            <a:pPr algn="ctr">
              <a:spcAft>
                <a:spcPts val="0"/>
              </a:spcAft>
            </a:pPr>
            <a:r>
              <a:rPr sz="550" b="1" i="0">
                <a:solidFill>
                  <a:srgbClr val="D40000"/>
                </a:solidFill>
                <a:latin typeface="Segoe UI"/>
              </a:rPr>
              <a:t>1× H100 NVL · ~94 GB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15184" y="4169663"/>
            <a:ext cx="87782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5B4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2C2454"/>
                </a:solidFill>
                <a:latin typeface="Segoe UI"/>
              </a:rPr>
              <a:t>Data Centre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13632" y="3922776"/>
            <a:ext cx="1243584" cy="676656"/>
          </a:xfrm>
          <a:prstGeom prst="roundRect">
            <a:avLst>
              <a:gd name="adj" fmla="val 6000"/>
            </a:avLst>
          </a:prstGeom>
          <a:solidFill>
            <a:srgbClr val="ADE29A"/>
          </a:solidFill>
          <a:ln w="11430">
            <a:solidFill>
              <a:srgbClr val="3A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959352" y="3968496"/>
            <a:ext cx="1152144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5B4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68496" y="3977639"/>
            <a:ext cx="1133856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Segoe UI"/>
              </a:rPr>
              <a:t>Hyperscaler infra &amp;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Segoe UI"/>
              </a:rPr>
              <a:t>data centres</a:t>
            </a:r>
          </a:p>
          <a:p>
            <a:pPr algn="ctr">
              <a:spcAft>
                <a:spcPts val="0"/>
              </a:spcAft>
            </a:pPr>
            <a:r>
              <a:rPr sz="520" b="0" i="0">
                <a:solidFill>
                  <a:srgbClr val="5B5380"/>
                </a:solidFill>
                <a:latin typeface="Segoe UI"/>
              </a:rPr>
              <a:t>US and Chinese hyperscalers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3271" y="4727448"/>
            <a:ext cx="4078224" cy="420624"/>
          </a:xfrm>
          <a:prstGeom prst="roundRect">
            <a:avLst>
              <a:gd name="adj" fmla="val 8000"/>
            </a:avLst>
          </a:prstGeom>
          <a:solidFill>
            <a:srgbClr val="ADE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Segoe UI"/>
              </a:rPr>
              <a:t>DATA CENTER</a:t>
            </a:r>
          </a:p>
        </p:txBody>
      </p:sp>
      <p:sp>
        <p:nvSpPr>
          <p:cNvPr id="35" name="Chevron 34"/>
          <p:cNvSpPr/>
          <p:nvPr/>
        </p:nvSpPr>
        <p:spPr>
          <a:xfrm>
            <a:off x="5294376" y="1901952"/>
            <a:ext cx="1371600" cy="832104"/>
          </a:xfrm>
          <a:prstGeom prst="chevron">
            <a:avLst/>
          </a:prstGeom>
          <a:solidFill>
            <a:srgbClr val="ADE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>
            <a:off x="5230368" y="3191255"/>
            <a:ext cx="886968" cy="0"/>
          </a:xfrm>
          <a:prstGeom prst="line">
            <a:avLst/>
          </a:prstGeom>
          <a:ln w="63500">
            <a:solidFill>
              <a:srgbClr val="4472C4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6117336" y="3191255"/>
            <a:ext cx="0" cy="1618489"/>
          </a:xfrm>
          <a:prstGeom prst="line">
            <a:avLst/>
          </a:prstGeom>
          <a:ln w="63500">
            <a:solidFill>
              <a:srgbClr val="4472C4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6117336" y="4809744"/>
            <a:ext cx="4983480" cy="0"/>
          </a:xfrm>
          <a:prstGeom prst="line">
            <a:avLst/>
          </a:prstGeom>
          <a:ln w="63500">
            <a:solidFill>
              <a:srgbClr val="4472C4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11100816" y="3886200"/>
            <a:ext cx="0" cy="923544"/>
          </a:xfrm>
          <a:prstGeom prst="line">
            <a:avLst/>
          </a:prstGeom>
          <a:ln w="63500">
            <a:solidFill>
              <a:srgbClr val="4472C4"/>
            </a:solidFill>
            <a:tailEnd type="triangle" w="med" len="med"/>
          </a:ln>
          <a:effectLst/>
        </p:spPr>
      </p:cxnSp>
      <p:sp>
        <p:nvSpPr>
          <p:cNvPr id="40" name="Left Arrow 39"/>
          <p:cNvSpPr/>
          <p:nvPr/>
        </p:nvSpPr>
        <p:spPr>
          <a:xfrm>
            <a:off x="3712463" y="3108960"/>
            <a:ext cx="219456" cy="128016"/>
          </a:xfrm>
          <a:prstGeom prst="leftArrow">
            <a:avLst/>
          </a:prstGeom>
          <a:solidFill>
            <a:srgbClr val="D40000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639312" y="2770632"/>
            <a:ext cx="548640" cy="1645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D40000"/>
                </a:solidFill>
                <a:latin typeface="Segoe UI"/>
              </a:rPr>
              <a:t>MIGRATE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859536"/>
            <a:ext cx="5458968" cy="3099816"/>
          </a:xfrm>
          <a:prstGeom prst="roundRect">
            <a:avLst>
              <a:gd name="adj" fmla="val 2000"/>
            </a:avLst>
          </a:prstGeom>
          <a:solidFill>
            <a:srgbClr val="FBFDFA"/>
          </a:solidFill>
          <a:ln w="25400">
            <a:solidFill>
              <a:srgbClr val="4EA72E"/>
            </a:solidFill>
          </a:ln>
          <a:effectLst>
            <a:outerShdw blurRad="50800" dist="25400" dir="5400000" algn="t" rotWithShape="0">
              <a:srgbClr val="0B162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12280" y="941832"/>
            <a:ext cx="5184648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E6B24"/>
                </a:solidFill>
                <a:latin typeface="Segoe UI"/>
              </a:rPr>
              <a:t>NEXT PAGE — Intelligence Layer components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12280" y="1252728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9A9A9A"/>
                </a:solidFill>
                <a:latin typeface="Segoe UI"/>
              </a:rPr>
              <a:t>AI Knowledge Base For Employees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1618487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9A9A9A"/>
                </a:solidFill>
                <a:latin typeface="Segoe UI"/>
              </a:rPr>
              <a:t>CP-G Training System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12280" y="1984248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9A9A9A"/>
                </a:solidFill>
                <a:latin typeface="Segoe UI"/>
              </a:rPr>
              <a:t>Employee Journey UI / Channels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22208" y="1252728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152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AI Orchestrator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22208" y="1618487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14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AI Services Layer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22208" y="1984248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9A9A9A"/>
                </a:solidFill>
                <a:latin typeface="Segoe UI"/>
              </a:rPr>
              <a:t>MCP Interface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13848" y="1252728"/>
            <a:ext cx="1783080" cy="310896"/>
          </a:xfrm>
          <a:prstGeom prst="roundRect">
            <a:avLst>
              <a:gd name="adj" fmla="val 12000"/>
            </a:avLst>
          </a:prstGeom>
          <a:solidFill>
            <a:srgbClr val="0E5C24"/>
          </a:solidFill>
          <a:ln w="15240">
            <a:solidFill>
              <a:srgbClr val="4CD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AI Agents Hub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13848" y="1618487"/>
            <a:ext cx="1783080" cy="310896"/>
          </a:xfrm>
          <a:prstGeom prst="roundRect">
            <a:avLst>
              <a:gd name="adj" fmla="val 12000"/>
            </a:avLst>
          </a:prstGeom>
          <a:solidFill>
            <a:srgbClr val="0E2D1E"/>
          </a:solidFill>
          <a:ln w="1524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LLM Gateway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213848" y="1984248"/>
            <a:ext cx="1783080" cy="310896"/>
          </a:xfrm>
          <a:prstGeom prst="roundRect">
            <a:avLst>
              <a:gd name="adj" fmla="val 12000"/>
            </a:avLst>
          </a:prstGeom>
          <a:solidFill>
            <a:srgbClr val="14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Segoe UI"/>
              </a:rPr>
              <a:t>Enterprise Data Sources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12280" y="2441448"/>
            <a:ext cx="3282696" cy="402336"/>
          </a:xfrm>
          <a:prstGeom prst="roundRect">
            <a:avLst>
              <a:gd name="adj" fmla="val 8000"/>
            </a:avLst>
          </a:prstGeom>
          <a:solidFill>
            <a:srgbClr val="FFF2F2"/>
          </a:solidFill>
          <a:ln w="2032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7A2020"/>
                </a:solidFill>
                <a:latin typeface="Segoe UI"/>
              </a:rPr>
              <a:t>Foundational Models (Token factory)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8C2F2F"/>
                </a:solidFill>
                <a:latin typeface="Segoe UI"/>
              </a:rPr>
              <a:t>ASR · LLM · Vision pools — internal GPU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12280" y="2916936"/>
            <a:ext cx="3282696" cy="402336"/>
          </a:xfrm>
          <a:prstGeom prst="roundRect">
            <a:avLst>
              <a:gd name="adj" fmla="val 8000"/>
            </a:avLst>
          </a:prstGeom>
          <a:solidFill>
            <a:srgbClr val="FFFBF0"/>
          </a:solidFill>
          <a:ln w="20320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8A5E00"/>
                </a:solidFill>
                <a:latin typeface="Segoe UI"/>
              </a:rPr>
              <a:t>APPLICATION SIDE — True-owned, new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6B5200"/>
                </a:solidFill>
                <a:latin typeface="Segoe UI"/>
              </a:rPr>
              <a:t>API · broker · workers · object store · job state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213848" y="2441448"/>
            <a:ext cx="1783080" cy="87782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E2D1E"/>
              </a:gs>
              <a:gs pos="100000">
                <a:srgbClr val="132E31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Data Lake &amp; Vector Store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A9BCC9"/>
                </a:solidFill>
                <a:latin typeface="Segoe UI"/>
              </a:rPr>
              <a:t>our storage — object store,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A9BCC9"/>
                </a:solidFill>
                <a:latin typeface="Segoe UI"/>
              </a:rPr>
              <a:t>transcripts, job state,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A9BCC9"/>
                </a:solidFill>
                <a:latin typeface="Segoe UI"/>
              </a:rPr>
              <a:t>PDPA audit trail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12280" y="3447287"/>
            <a:ext cx="51846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Segoe UI"/>
              </a:rPr>
              <a:t>Full colour = used by these 10 use cases   ·   Grey = not used by this migration   ·   Red = Token Factory we add   ·   Amber = the application side the AI team builds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11696" y="5239512"/>
            <a:ext cx="1743455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D40000"/>
                </a:solidFill>
                <a:latin typeface="Segoe UI"/>
              </a:rPr>
              <a:t>10 use cases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11696" y="5495544"/>
            <a:ext cx="1743455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8A8A8A"/>
                </a:solidFill>
                <a:latin typeface="Segoe UI"/>
              </a:rPr>
              <a:t>Gemini 2.5 / 3.1 · Agentspace — on GCP today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5152" y="5239512"/>
            <a:ext cx="1743455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C2454"/>
                </a:solidFill>
                <a:latin typeface="Segoe UI"/>
              </a:rPr>
              <a:t>≈ THB 70,560 / mo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5152" y="5495544"/>
            <a:ext cx="1743455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8A8A8A"/>
                </a:solidFill>
                <a:latin typeface="Segoe UI"/>
              </a:rPr>
              <a:t>external AI spend to migrate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98608" y="5239512"/>
            <a:ext cx="1743455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C2454"/>
                </a:solidFill>
                <a:latin typeface="Segoe UI"/>
              </a:rPr>
              <a:t>1× H100 NVL · ~94 GB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98608" y="5495544"/>
            <a:ext cx="1743455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8A8A8A"/>
                </a:solidFill>
                <a:latin typeface="Segoe UI"/>
              </a:rPr>
              <a:t>Token Factory — internal GPU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455152" y="5184647"/>
            <a:ext cx="0" cy="512065"/>
          </a:xfrm>
          <a:prstGeom prst="line">
            <a:avLst/>
          </a:prstGeom>
          <a:ln w="12700">
            <a:solidFill>
              <a:srgbClr val="DDDDDD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10198608" y="5184647"/>
            <a:ext cx="0" cy="512065"/>
          </a:xfrm>
          <a:prstGeom prst="line">
            <a:avLst/>
          </a:prstGeom>
          <a:ln w="12700">
            <a:solidFill>
              <a:srgbClr val="DDDDDD"/>
            </a:solidFill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6711696" y="5788152"/>
            <a:ext cx="523036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 i="1">
                <a:solidFill>
                  <a:srgbClr val="8A8A8A"/>
                </a:solidFill>
                <a:latin typeface="Segoe UI"/>
              </a:rPr>
              <a:t>the migration lands the 10 use cases in the Sovereign Stack — same architecture, served by Token Factory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18288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303C46"/>
                </a:solidFill>
                <a:latin typeface="Segoe UI"/>
              </a:rPr>
              <a:t>Where we sit — the AI Factory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512064"/>
            <a:ext cx="10607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CP Group's Sovereign Stack: our ten use cases move from the Non-Sovereign column into the Token Factory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Internal Model Migration — CDAO update · 31 Jul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07040" y="6419088"/>
            <a:ext cx="1078992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 dirty="0">
                <a:solidFill>
                  <a:srgbClr val="64748B"/>
                </a:solidFill>
                <a:latin typeface="Segoe U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716310" y="759564"/>
            <a:ext cx="2891634" cy="39182"/>
          </a:xfrm>
          <a:prstGeom prst="roundRect">
            <a:avLst>
              <a:gd name="adj" fmla="val 0"/>
            </a:avLst>
          </a:prstGeom>
          <a:solidFill>
            <a:srgbClr val="CF7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07945" y="759564"/>
            <a:ext cx="2476304" cy="39182"/>
          </a:xfrm>
          <a:prstGeom prst="roundRect">
            <a:avLst>
              <a:gd name="adj" fmla="val 0"/>
            </a:avLst>
          </a:prstGeom>
          <a:solidFill>
            <a:srgbClr val="60C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084249" y="759564"/>
            <a:ext cx="2476304" cy="39182"/>
          </a:xfrm>
          <a:prstGeom prst="roundRect">
            <a:avLst>
              <a:gd name="adj" fmla="val 0"/>
            </a:avLst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560554" y="759564"/>
            <a:ext cx="423166" cy="39182"/>
          </a:xfrm>
          <a:prstGeom prst="roundRect">
            <a:avLst>
              <a:gd name="adj" fmla="val 0"/>
            </a:avLst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99107" y="579327"/>
            <a:ext cx="2037466" cy="17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42" b="1" i="0">
                <a:solidFill>
                  <a:srgbClr val="1A1A1A"/>
                </a:solidFill>
                <a:latin typeface="Segoe UI"/>
              </a:rPr>
              <a:t>Scalable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1296" y="579327"/>
            <a:ext cx="2037466" cy="17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42" b="1" i="0">
                <a:solidFill>
                  <a:srgbClr val="1A1A1A"/>
                </a:solidFill>
                <a:latin typeface="Segoe UI"/>
              </a:rPr>
              <a:t>Secure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9040" y="579327"/>
            <a:ext cx="2037466" cy="17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42" b="1" i="0">
                <a:solidFill>
                  <a:srgbClr val="1A1A1A"/>
                </a:solidFill>
                <a:latin typeface="Segoe UI"/>
              </a:rPr>
              <a:t>Multi-LLM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5042" y="579327"/>
            <a:ext cx="2037466" cy="17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42" b="1" i="0">
                <a:solidFill>
                  <a:srgbClr val="1A1A1A"/>
                </a:solidFill>
                <a:latin typeface="Segoe UI"/>
              </a:rPr>
              <a:t>Knowledge-Driven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7547" y="579327"/>
            <a:ext cx="2037466" cy="17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42" b="1" i="0">
                <a:solidFill>
                  <a:srgbClr val="1A1A1A"/>
                </a:solidFill>
                <a:latin typeface="Segoe UI"/>
              </a:rPr>
              <a:t>Use Case Orchestration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4208288" y="1002493"/>
            <a:ext cx="1128442" cy="1214643"/>
            <a:chOff x="4208288" y="1002493"/>
            <a:chExt cx="1128442" cy="1214643"/>
          </a:xfrm>
        </p:grpSpPr>
        <p:sp>
          <p:nvSpPr>
            <p:cNvPr id="11" name="Rounded Rectangle 10"/>
            <p:cNvSpPr/>
            <p:nvPr/>
          </p:nvSpPr>
          <p:spPr>
            <a:xfrm>
              <a:off x="4208288" y="1002493"/>
              <a:ext cx="1112769" cy="1214643"/>
            </a:xfrm>
            <a:prstGeom prst="roundRect">
              <a:avLst>
                <a:gd name="adj" fmla="val 4000"/>
              </a:avLst>
            </a:prstGeom>
            <a:solidFill>
              <a:srgbClr val="FCFCFC"/>
            </a:solidFill>
            <a:ln w="10160">
              <a:solidFill>
                <a:srgbClr val="EAEA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70979" y="1065184"/>
              <a:ext cx="1018733" cy="1410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599" b="1" i="0">
                  <a:solidFill>
                    <a:srgbClr val="8A8A8A"/>
                  </a:solidFill>
                  <a:latin typeface="Segoe UI"/>
                </a:rPr>
                <a:t>HOW TO READ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270979" y="1245421"/>
              <a:ext cx="133218" cy="97955"/>
            </a:xfrm>
            <a:prstGeom prst="roundRect">
              <a:avLst>
                <a:gd name="adj" fmla="val 12000"/>
              </a:avLst>
            </a:prstGeom>
            <a:solidFill>
              <a:srgbClr val="5A6068"/>
            </a:solidFill>
            <a:ln w="12700">
              <a:solidFill>
                <a:srgbClr val="8A92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43380" y="1221912"/>
              <a:ext cx="893350" cy="14889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497" b="0" i="0">
                  <a:solidFill>
                    <a:srgbClr val="555555"/>
                  </a:solidFill>
                  <a:latin typeface="Segoe UI"/>
                </a:rPr>
                <a:t>Used by the GPU migration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270979" y="1406068"/>
              <a:ext cx="133218" cy="97955"/>
            </a:xfrm>
            <a:prstGeom prst="roundRect">
              <a:avLst>
                <a:gd name="adj" fmla="val 12000"/>
              </a:avLst>
            </a:prstGeom>
            <a:solidFill>
              <a:srgbClr val="E2E2E2"/>
            </a:solidFill>
            <a:ln w="12700">
              <a:solidFill>
                <a:srgbClr val="CFCF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43380" y="1382559"/>
              <a:ext cx="893350" cy="14889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497" b="0" i="0">
                  <a:solidFill>
                    <a:srgbClr val="555555"/>
                  </a:solidFill>
                  <a:latin typeface="Segoe UI"/>
                </a:rPr>
                <a:t>Not used by this migration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270979" y="1566714"/>
              <a:ext cx="133218" cy="97955"/>
            </a:xfrm>
            <a:prstGeom prst="roundRect">
              <a:avLst>
                <a:gd name="adj" fmla="val 12000"/>
              </a:avLst>
            </a:prstGeom>
            <a:solidFill>
              <a:srgbClr val="FFF2F2"/>
            </a:solidFill>
            <a:ln w="127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43380" y="1543205"/>
              <a:ext cx="893350" cy="14889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497" b="0" i="0">
                  <a:solidFill>
                    <a:srgbClr val="555555"/>
                  </a:solidFill>
                  <a:latin typeface="Segoe UI"/>
                </a:rPr>
                <a:t>Token Factory — added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270979" y="1727361"/>
              <a:ext cx="133218" cy="97955"/>
            </a:xfrm>
            <a:prstGeom prst="roundRect">
              <a:avLst>
                <a:gd name="adj" fmla="val 12000"/>
              </a:avLst>
            </a:prstGeom>
            <a:solidFill>
              <a:srgbClr val="FFFBF0"/>
            </a:solidFill>
            <a:ln w="12700">
              <a:solidFill>
                <a:srgbClr val="C98A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443380" y="1703851"/>
              <a:ext cx="893350" cy="14889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497" b="0" i="0">
                  <a:solidFill>
                    <a:srgbClr val="555555"/>
                  </a:solidFill>
                  <a:latin typeface="Segoe UI"/>
                </a:rPr>
                <a:t>App side — True-owned, new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70979" y="1888007"/>
              <a:ext cx="133218" cy="97955"/>
            </a:xfrm>
            <a:prstGeom prst="roundRect">
              <a:avLst>
                <a:gd name="adj" fmla="val 12000"/>
              </a:avLst>
            </a:prstGeom>
            <a:solidFill>
              <a:srgbClr val="0E5C24"/>
            </a:solidFill>
            <a:ln w="12700">
              <a:solidFill>
                <a:srgbClr val="4CD37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443380" y="1864498"/>
              <a:ext cx="893350" cy="14889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497" b="0" i="0">
                  <a:solidFill>
                    <a:srgbClr val="555555"/>
                  </a:solidFill>
                  <a:latin typeface="Segoe UI"/>
                </a:rPr>
                <a:t>Fallback — 2nd local model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270979" y="2048653"/>
              <a:ext cx="133218" cy="97955"/>
            </a:xfrm>
            <a:prstGeom prst="roundRect">
              <a:avLst>
                <a:gd name="adj" fmla="val 12000"/>
              </a:avLst>
            </a:prstGeom>
            <a:solidFill>
              <a:srgbClr val="FFF2F2"/>
            </a:solidFill>
            <a:ln w="12700">
              <a:solidFill>
                <a:srgbClr val="FF00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443380" y="2025144"/>
              <a:ext cx="893350" cy="14889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497" b="0" i="0">
                  <a:solidFill>
                    <a:srgbClr val="555555"/>
                  </a:solidFill>
                  <a:latin typeface="Segoe UI"/>
                </a:rPr>
                <a:t>ASR — not in TF catalogue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948342" y="994656"/>
            <a:ext cx="3173745" cy="1951266"/>
            <a:chOff x="948342" y="994656"/>
            <a:chExt cx="3173745" cy="1951266"/>
          </a:xfrm>
        </p:grpSpPr>
        <p:sp>
          <p:nvSpPr>
            <p:cNvPr id="26" name="Rounded Rectangle 25"/>
            <p:cNvSpPr/>
            <p:nvPr/>
          </p:nvSpPr>
          <p:spPr>
            <a:xfrm>
              <a:off x="948342" y="994656"/>
              <a:ext cx="3173745" cy="1943429"/>
            </a:xfrm>
            <a:prstGeom prst="roundRect">
              <a:avLst>
                <a:gd name="adj" fmla="val 3000"/>
              </a:avLst>
            </a:prstGeom>
            <a:solidFill>
              <a:srgbClr val="EFEFEF"/>
            </a:solidFill>
            <a:ln w="15240">
              <a:solidFill>
                <a:srgbClr val="CFCFCF"/>
              </a:solidFill>
            </a:ln>
            <a:effectLst>
              <a:outerShdw blurRad="50800" dist="25400" dir="5400000" algn="t" rotWithShape="0">
                <a:srgbClr val="0B1622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89397" y="1080857"/>
              <a:ext cx="2899470" cy="20374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1114" b="1" i="0">
                  <a:solidFill>
                    <a:srgbClr val="9A9A9A"/>
                  </a:solidFill>
                  <a:latin typeface="Segoe UI"/>
                </a:rPr>
                <a:t>AI Knowledge Base For Employees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65888" y="1378640"/>
              <a:ext cx="1402717" cy="219419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36416" y="1394313"/>
              <a:ext cx="1293007" cy="18807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771" b="0" i="0">
                  <a:solidFill>
                    <a:srgbClr val="9A9A9A"/>
                  </a:solidFill>
                  <a:latin typeface="Segoe UI"/>
                </a:rPr>
                <a:t>Internal Documents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065888" y="1623920"/>
              <a:ext cx="1402717" cy="219419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36416" y="1639593"/>
              <a:ext cx="1293007" cy="18807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771" b="0" i="0">
                  <a:solidFill>
                    <a:srgbClr val="9A9A9A"/>
                  </a:solidFill>
                  <a:latin typeface="Segoe UI"/>
                </a:rPr>
                <a:t>Policies &amp; Procedures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65888" y="1869200"/>
              <a:ext cx="1402717" cy="219419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36416" y="1884872"/>
              <a:ext cx="1293007" cy="18807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771" b="0" i="0">
                  <a:solidFill>
                    <a:srgbClr val="9A9A9A"/>
                  </a:solidFill>
                  <a:latin typeface="Segoe UI"/>
                </a:rPr>
                <a:t>SOPs &amp; Playbooks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1065888" y="2114479"/>
              <a:ext cx="1402717" cy="219419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36416" y="2130152"/>
              <a:ext cx="1293007" cy="18807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771" b="0" i="0">
                  <a:solidFill>
                    <a:srgbClr val="9A9A9A"/>
                  </a:solidFill>
                  <a:latin typeface="Segoe UI"/>
                </a:rPr>
                <a:t>Product Documents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065888" y="2359759"/>
              <a:ext cx="1402717" cy="219419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36416" y="2375431"/>
              <a:ext cx="1293007" cy="18807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771" b="0" i="0">
                  <a:solidFill>
                    <a:srgbClr val="9A9A9A"/>
                  </a:solidFill>
                  <a:latin typeface="Segoe UI"/>
                </a:rPr>
                <a:t>FAQs &amp; Runbooks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065888" y="2605038"/>
              <a:ext cx="1402717" cy="219419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36416" y="2620711"/>
              <a:ext cx="1293007" cy="18807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771" b="0" i="0">
                  <a:solidFill>
                    <a:srgbClr val="9A9A9A"/>
                  </a:solidFill>
                  <a:latin typeface="Segoe UI"/>
                </a:rPr>
                <a:t>Training Content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2539133" y="1386477"/>
              <a:ext cx="1449735" cy="1441899"/>
            </a:xfrm>
            <a:prstGeom prst="roundRect">
              <a:avLst>
                <a:gd name="adj" fmla="val 4000"/>
              </a:avLst>
            </a:prstGeom>
            <a:solidFill>
              <a:srgbClr val="E7E7E7"/>
            </a:solidFill>
            <a:ln w="12700">
              <a:solidFill>
                <a:srgbClr val="CFCF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656679" y="1488350"/>
              <a:ext cx="1253825" cy="18807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857" b="0" i="0">
                  <a:solidFill>
                    <a:srgbClr val="9A9A9A"/>
                  </a:solidFill>
                  <a:latin typeface="Segoe UI"/>
                </a:rPr>
                <a:t>Vector DB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656679" y="1746952"/>
              <a:ext cx="1253825" cy="18807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857" b="0" i="0">
                  <a:solidFill>
                    <a:srgbClr val="9A9A9A"/>
                  </a:solidFill>
                  <a:latin typeface="Segoe UI"/>
                </a:rPr>
                <a:t>Search Engine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656679" y="2005553"/>
              <a:ext cx="1253825" cy="18807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857" b="0" i="0">
                  <a:solidFill>
                    <a:srgbClr val="9A9A9A"/>
                  </a:solidFill>
                  <a:latin typeface="Segoe UI"/>
                </a:rPr>
                <a:t>Embeddings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656679" y="2264154"/>
              <a:ext cx="1253825" cy="18807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857" b="0" i="0">
                  <a:solidFill>
                    <a:srgbClr val="9A9A9A"/>
                  </a:solidFill>
                  <a:latin typeface="Segoe UI"/>
                </a:rPr>
                <a:t>Access Control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656679" y="2522756"/>
              <a:ext cx="1253825" cy="18807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857" b="0" i="0">
                  <a:solidFill>
                    <a:srgbClr val="9A9A9A"/>
                  </a:solidFill>
                  <a:latin typeface="Segoe UI"/>
                </a:rPr>
                <a:t>Feedback Loop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58052" y="2789194"/>
              <a:ext cx="2954325" cy="1567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771" b="0" i="1">
                  <a:solidFill>
                    <a:srgbClr val="ADADAD"/>
                  </a:solidFill>
                  <a:latin typeface="Segoe UI"/>
                </a:rPr>
                <a:t>not used by this migration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948342" y="3141832"/>
            <a:ext cx="3173745" cy="572057"/>
            <a:chOff x="948342" y="3141832"/>
            <a:chExt cx="3173745" cy="572057"/>
          </a:xfrm>
        </p:grpSpPr>
        <p:sp>
          <p:nvSpPr>
            <p:cNvPr id="48" name="Rounded Rectangle 47"/>
            <p:cNvSpPr/>
            <p:nvPr/>
          </p:nvSpPr>
          <p:spPr>
            <a:xfrm>
              <a:off x="948342" y="3141832"/>
              <a:ext cx="3173745" cy="572057"/>
            </a:xfrm>
            <a:prstGeom prst="roundRect">
              <a:avLst>
                <a:gd name="adj" fmla="val 6000"/>
              </a:avLst>
            </a:prstGeom>
            <a:solidFill>
              <a:srgbClr val="EFEFEF"/>
            </a:solidFill>
            <a:ln w="15240">
              <a:solidFill>
                <a:srgbClr val="CFCFCF"/>
              </a:solidFill>
            </a:ln>
            <a:effectLst>
              <a:outerShdw blurRad="50800" dist="25400" dir="5400000" algn="t" rotWithShape="0">
                <a:srgbClr val="0B1622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089397" y="3196687"/>
              <a:ext cx="2350922" cy="18807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1028" b="1" i="0">
                  <a:solidFill>
                    <a:srgbClr val="9A9A9A"/>
                  </a:solidFill>
                  <a:latin typeface="Segoe UI"/>
                </a:rPr>
                <a:t>CP-G Training System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1136416" y="3376924"/>
              <a:ext cx="673931" cy="297783"/>
            </a:xfrm>
            <a:prstGeom prst="roundRect">
              <a:avLst>
                <a:gd name="adj" fmla="val 8000"/>
              </a:avLst>
            </a:prstGeom>
            <a:solidFill>
              <a:srgbClr val="E2E2E2"/>
            </a:solidFill>
            <a:ln w="12700">
              <a:solidFill>
                <a:srgbClr val="CFCF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857" b="1" i="0">
                  <a:solidFill>
                    <a:srgbClr val="9A9A9A"/>
                  </a:solidFill>
                  <a:latin typeface="Segoe UI"/>
                </a:rPr>
                <a:t>IMS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3158209" y="3376924"/>
              <a:ext cx="673931" cy="297783"/>
            </a:xfrm>
            <a:prstGeom prst="roundRect">
              <a:avLst>
                <a:gd name="adj" fmla="val 8000"/>
              </a:avLst>
            </a:prstGeom>
            <a:solidFill>
              <a:srgbClr val="E2E2E2"/>
            </a:solidFill>
            <a:ln w="12700">
              <a:solidFill>
                <a:srgbClr val="CFCF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857" b="1" i="0">
                  <a:solidFill>
                    <a:srgbClr val="9A9A9A"/>
                  </a:solidFill>
                  <a:latin typeface="Segoe UI"/>
                </a:rPr>
                <a:t>TDA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901324" y="3972491"/>
            <a:ext cx="2734906" cy="1700500"/>
            <a:chOff x="901324" y="3972491"/>
            <a:chExt cx="2734906" cy="1700500"/>
          </a:xfrm>
        </p:grpSpPr>
        <p:sp>
          <p:nvSpPr>
            <p:cNvPr id="53" name="Rounded Rectangle 52"/>
            <p:cNvSpPr/>
            <p:nvPr/>
          </p:nvSpPr>
          <p:spPr>
            <a:xfrm>
              <a:off x="901324" y="4168402"/>
              <a:ext cx="2719233" cy="799313"/>
            </a:xfrm>
            <a:prstGeom prst="roundRect">
              <a:avLst>
                <a:gd name="adj" fmla="val 5000"/>
              </a:avLst>
            </a:prstGeom>
            <a:solidFill>
              <a:srgbClr val="EFEFEF"/>
            </a:solidFill>
            <a:ln w="15240">
              <a:solidFill>
                <a:srgbClr val="CFCFCF"/>
              </a:solidFill>
            </a:ln>
            <a:effectLst>
              <a:outerShdw blurRad="50800" dist="25400" dir="5400000" algn="t" rotWithShape="0">
                <a:srgbClr val="0B1622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1058052" y="3972491"/>
              <a:ext cx="2578178" cy="258601"/>
            </a:xfrm>
            <a:prstGeom prst="roundRect">
              <a:avLst>
                <a:gd name="adj" fmla="val 9000"/>
              </a:avLst>
            </a:prstGeom>
            <a:solidFill>
              <a:srgbClr val="E2E2E2"/>
            </a:solidFill>
            <a:ln w="12700">
              <a:solidFill>
                <a:srgbClr val="CFCF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942" b="1" i="0">
                  <a:solidFill>
                    <a:srgbClr val="9A9A9A"/>
                  </a:solidFill>
                  <a:latin typeface="Segoe UI"/>
                </a:rPr>
                <a:t>Employee Journey UI / Channels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1058052" y="4325130"/>
              <a:ext cx="940368" cy="485857"/>
            </a:xfrm>
            <a:prstGeom prst="roundRect">
              <a:avLst>
                <a:gd name="adj" fmla="val 6000"/>
              </a:avLst>
            </a:prstGeom>
            <a:solidFill>
              <a:srgbClr val="E2E2E2"/>
            </a:solidFill>
            <a:ln w="12700">
              <a:solidFill>
                <a:srgbClr val="CFCF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771" b="0" i="0">
                  <a:solidFill>
                    <a:srgbClr val="9A9A9A"/>
                  </a:solidFill>
                  <a:latin typeface="Segoe UI"/>
                </a:rPr>
                <a:t>V INSIGHTS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2076785" y="4325130"/>
              <a:ext cx="783640" cy="485857"/>
            </a:xfrm>
            <a:prstGeom prst="roundRect">
              <a:avLst>
                <a:gd name="adj" fmla="val 6000"/>
              </a:avLst>
            </a:prstGeom>
            <a:solidFill>
              <a:srgbClr val="E2E2E2"/>
            </a:solidFill>
            <a:ln w="12700">
              <a:solidFill>
                <a:srgbClr val="CFCF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771" b="0" i="0">
                  <a:solidFill>
                    <a:srgbClr val="9A9A9A"/>
                  </a:solidFill>
                  <a:latin typeface="Segoe UI"/>
                </a:rPr>
                <a:t>ONE app &amp; CheckIn</a:t>
              </a: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2954462" y="4325130"/>
              <a:ext cx="587730" cy="485857"/>
            </a:xfrm>
            <a:prstGeom prst="roundRect">
              <a:avLst>
                <a:gd name="adj" fmla="val 6000"/>
              </a:avLst>
            </a:prstGeom>
            <a:solidFill>
              <a:srgbClr val="E2E2E2"/>
            </a:solidFill>
            <a:ln w="12700">
              <a:solidFill>
                <a:srgbClr val="CFCF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771" b="0" i="0">
                  <a:solidFill>
                    <a:srgbClr val="9A9A9A"/>
                  </a:solidFill>
                  <a:latin typeface="Segoe UI"/>
                </a:rPr>
                <a:t>Mari AI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1018870" y="5202807"/>
              <a:ext cx="783640" cy="470184"/>
            </a:xfrm>
            <a:prstGeom prst="roundRect">
              <a:avLst>
                <a:gd name="adj" fmla="val 6000"/>
              </a:avLst>
            </a:prstGeom>
            <a:solidFill>
              <a:srgbClr val="E2E2E2"/>
            </a:solidFill>
            <a:ln w="17780">
              <a:solidFill>
                <a:srgbClr val="CFCF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857" b="1" i="0">
                  <a:solidFill>
                    <a:srgbClr val="9A9A9A"/>
                  </a:solidFill>
                  <a:latin typeface="Segoe UI"/>
                </a:rPr>
                <a:t>Employees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5391585" y="1174894"/>
            <a:ext cx="1731846" cy="2750579"/>
            <a:chOff x="5391585" y="1174894"/>
            <a:chExt cx="1731846" cy="2750579"/>
          </a:xfrm>
        </p:grpSpPr>
        <p:sp>
          <p:nvSpPr>
            <p:cNvPr id="60" name="Rounded Rectangle 59"/>
            <p:cNvSpPr/>
            <p:nvPr/>
          </p:nvSpPr>
          <p:spPr>
            <a:xfrm>
              <a:off x="5391585" y="1174894"/>
              <a:ext cx="1731846" cy="2750579"/>
            </a:xfrm>
            <a:prstGeom prst="roundRect">
              <a:avLst>
                <a:gd name="adj" fmla="val 3000"/>
              </a:avLst>
            </a:prstGeom>
            <a:solidFill>
              <a:srgbClr val="15222F"/>
            </a:solidFill>
            <a:ln>
              <a:noFill/>
            </a:ln>
            <a:effectLst>
              <a:outerShdw blurRad="50800" dist="25400" dir="5400000" algn="t" rotWithShape="0">
                <a:srgbClr val="0B1622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485622" y="1253258"/>
              <a:ext cx="1567281" cy="21941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1199" b="1" i="0">
                  <a:solidFill>
                    <a:srgbClr val="FFFFFF"/>
                  </a:solidFill>
                  <a:latin typeface="Segoe UI"/>
                </a:rPr>
                <a:t>AI Orchestrator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5438604" y="1652915"/>
              <a:ext cx="1629972" cy="227255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 w="11430">
              <a:solidFill>
                <a:srgbClr val="CFCF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771" b="0" i="0">
                  <a:solidFill>
                    <a:srgbClr val="9A9A9A"/>
                  </a:solidFill>
                  <a:latin typeface="Segoe UI"/>
                </a:rPr>
                <a:t>Query Understanding (NLP)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5438604" y="1974207"/>
              <a:ext cx="1629972" cy="227255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 w="11430">
              <a:solidFill>
                <a:srgbClr val="CFCF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771" b="0" i="0">
                  <a:solidFill>
                    <a:srgbClr val="9A9A9A"/>
                  </a:solidFill>
                  <a:latin typeface="Segoe UI"/>
                </a:rPr>
                <a:t>Intent Classification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5438604" y="2287664"/>
              <a:ext cx="1629972" cy="227255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 w="11430">
              <a:solidFill>
                <a:srgbClr val="CFCF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771" b="0" i="0">
                  <a:solidFill>
                    <a:srgbClr val="9A9A9A"/>
                  </a:solidFill>
                  <a:latin typeface="Segoe UI"/>
                </a:rPr>
                <a:t>Context Enrichment</a:t>
              </a:r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5438604" y="2608956"/>
              <a:ext cx="1629972" cy="227255"/>
            </a:xfrm>
            <a:prstGeom prst="roundRect">
              <a:avLst>
                <a:gd name="adj" fmla="val 10000"/>
              </a:avLst>
            </a:prstGeom>
            <a:solidFill>
              <a:srgbClr val="5A6068"/>
            </a:solidFill>
            <a:ln w="11430">
              <a:solidFill>
                <a:srgbClr val="8A92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771" b="0" i="0">
                  <a:solidFill>
                    <a:srgbClr val="FFFFFF"/>
                  </a:solidFill>
                  <a:latin typeface="Segoe UI"/>
                </a:rPr>
                <a:t>Routing Engine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5438604" y="2938086"/>
              <a:ext cx="1629972" cy="227255"/>
            </a:xfrm>
            <a:prstGeom prst="roundRect">
              <a:avLst>
                <a:gd name="adj" fmla="val 10000"/>
              </a:avLst>
            </a:prstGeom>
            <a:solidFill>
              <a:srgbClr val="5A6068"/>
            </a:solidFill>
            <a:ln w="11430">
              <a:solidFill>
                <a:srgbClr val="8A92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771" b="0" i="0">
                  <a:solidFill>
                    <a:srgbClr val="FFFFFF"/>
                  </a:solidFill>
                  <a:latin typeface="Segoe UI"/>
                </a:rPr>
                <a:t>Cost &amp; Latency Optimizer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5438604" y="3275051"/>
              <a:ext cx="1629972" cy="227255"/>
            </a:xfrm>
            <a:prstGeom prst="roundRect">
              <a:avLst>
                <a:gd name="adj" fmla="val 10000"/>
              </a:avLst>
            </a:prstGeom>
            <a:solidFill>
              <a:srgbClr val="5A6068"/>
            </a:solidFill>
            <a:ln w="11430">
              <a:solidFill>
                <a:srgbClr val="8A92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771" b="0" i="0">
                  <a:solidFill>
                    <a:srgbClr val="FFFFFF"/>
                  </a:solidFill>
                  <a:latin typeface="Segoe UI"/>
                </a:rPr>
                <a:t>Guardrails &amp; Policy Engine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5438604" y="3596344"/>
              <a:ext cx="1629972" cy="227255"/>
            </a:xfrm>
            <a:prstGeom prst="roundRect">
              <a:avLst>
                <a:gd name="adj" fmla="val 10000"/>
              </a:avLst>
            </a:prstGeom>
            <a:solidFill>
              <a:srgbClr val="5A6068"/>
            </a:solidFill>
            <a:ln w="11430">
              <a:solidFill>
                <a:srgbClr val="8A92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771" b="0" i="0">
                  <a:solidFill>
                    <a:srgbClr val="FFFFFF"/>
                  </a:solidFill>
                  <a:latin typeface="Segoe UI"/>
                </a:rPr>
                <a:t>Observability &amp; Logging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7632798" y="869274"/>
            <a:ext cx="3589074" cy="830659"/>
            <a:chOff x="7632798" y="869274"/>
            <a:chExt cx="3589074" cy="830659"/>
          </a:xfrm>
        </p:grpSpPr>
        <p:sp>
          <p:nvSpPr>
            <p:cNvPr id="70" name="Rounded Rectangle 69"/>
            <p:cNvSpPr/>
            <p:nvPr/>
          </p:nvSpPr>
          <p:spPr>
            <a:xfrm>
              <a:off x="7632798" y="869274"/>
              <a:ext cx="3589074" cy="830659"/>
            </a:xfrm>
            <a:prstGeom prst="roundRect">
              <a:avLst>
                <a:gd name="adj" fmla="val 6000"/>
              </a:avLst>
            </a:prstGeom>
            <a:gradFill rotWithShape="1">
              <a:gsLst>
                <a:gs pos="0">
                  <a:srgbClr val="163C11"/>
                </a:gs>
                <a:gs pos="100000">
                  <a:srgbClr val="00A449"/>
                </a:gs>
              </a:gsLst>
              <a:lin ang="5400000" scaled="0"/>
            </a:gradFill>
            <a:ln>
              <a:noFill/>
            </a:ln>
            <a:effectLst>
              <a:outerShdw blurRad="50800" dist="25400" dir="5400000" algn="t" rotWithShape="0">
                <a:srgbClr val="0B1622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632798" y="924129"/>
              <a:ext cx="3589074" cy="20374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1199" b="1" i="0">
                  <a:solidFill>
                    <a:srgbClr val="FFFFFF"/>
                  </a:solidFill>
                  <a:latin typeface="Segoe UI"/>
                </a:rPr>
                <a:t>AI Agents Hub</a:t>
              </a: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7695489" y="1190567"/>
              <a:ext cx="548548" cy="431002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599" b="1" i="0">
                  <a:solidFill>
                    <a:srgbClr val="9A9A9A"/>
                  </a:solidFill>
                  <a:latin typeface="Segoe UI"/>
                </a:rPr>
                <a:t>Customer</a:t>
              </a:r>
            </a:p>
            <a:p>
              <a:pPr algn="ctr">
                <a:spcAft>
                  <a:spcPts val="0"/>
                </a:spcAft>
              </a:pPr>
              <a:r>
                <a:rPr sz="599" b="1" i="0">
                  <a:solidFill>
                    <a:srgbClr val="9A9A9A"/>
                  </a:solidFill>
                  <a:latin typeface="Segoe UI"/>
                </a:rPr>
                <a:t>Support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8278518" y="1190567"/>
              <a:ext cx="548548" cy="431002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599" b="1" i="0">
                  <a:solidFill>
                    <a:srgbClr val="9A9A9A"/>
                  </a:solidFill>
                  <a:latin typeface="Segoe UI"/>
                </a:rPr>
                <a:t>Network</a:t>
              </a:r>
            </a:p>
            <a:p>
              <a:pPr algn="ctr">
                <a:spcAft>
                  <a:spcPts val="0"/>
                </a:spcAft>
              </a:pPr>
              <a:r>
                <a:rPr sz="599" b="1" i="0">
                  <a:solidFill>
                    <a:srgbClr val="9A9A9A"/>
                  </a:solidFill>
                  <a:latin typeface="Segoe UI"/>
                </a:rPr>
                <a:t>Ops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8861547" y="1190567"/>
              <a:ext cx="548548" cy="431002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599" b="1" i="0">
                  <a:solidFill>
                    <a:srgbClr val="9A9A9A"/>
                  </a:solidFill>
                  <a:latin typeface="Segoe UI"/>
                </a:rPr>
                <a:t>NBA +</a:t>
              </a:r>
            </a:p>
            <a:p>
              <a:pPr algn="ctr">
                <a:spcAft>
                  <a:spcPts val="0"/>
                </a:spcAft>
              </a:pPr>
              <a:r>
                <a:rPr sz="599" b="1" i="0">
                  <a:solidFill>
                    <a:srgbClr val="9A9A9A"/>
                  </a:solidFill>
                  <a:latin typeface="Segoe UI"/>
                </a:rPr>
                <a:t>NBO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9444576" y="1190567"/>
              <a:ext cx="548548" cy="431002"/>
            </a:xfrm>
            <a:prstGeom prst="roundRect">
              <a:avLst>
                <a:gd name="adj" fmla="val 10000"/>
              </a:avLst>
            </a:prstGeom>
            <a:solidFill>
              <a:srgbClr val="0E5C24"/>
            </a:solidFill>
            <a:ln w="17780">
              <a:solidFill>
                <a:srgbClr val="4CD3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599" b="1" i="0">
                  <a:solidFill>
                    <a:srgbClr val="FFFFFF"/>
                  </a:solidFill>
                  <a:latin typeface="Segoe UI"/>
                </a:rPr>
                <a:t>Fraud</a:t>
              </a:r>
            </a:p>
            <a:p>
              <a:pPr algn="ctr">
                <a:spcAft>
                  <a:spcPts val="0"/>
                </a:spcAft>
              </a:pPr>
              <a:r>
                <a:rPr sz="599" b="1" i="0">
                  <a:solidFill>
                    <a:srgbClr val="FFFFFF"/>
                  </a:solidFill>
                  <a:latin typeface="Segoe UI"/>
                </a:rPr>
                <a:t>Detection</a:t>
              </a:r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10027604" y="1190567"/>
              <a:ext cx="548548" cy="431002"/>
            </a:xfrm>
            <a:prstGeom prst="roundRect">
              <a:avLst>
                <a:gd name="adj" fmla="val 10000"/>
              </a:avLst>
            </a:prstGeom>
            <a:solidFill>
              <a:srgbClr val="0E5C24"/>
            </a:solidFill>
            <a:ln w="17780">
              <a:solidFill>
                <a:srgbClr val="4CD3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599" b="1" i="0">
                  <a:solidFill>
                    <a:srgbClr val="FFFFFF"/>
                  </a:solidFill>
                  <a:latin typeface="Segoe UI"/>
                </a:rPr>
                <a:t>Churn</a:t>
              </a:r>
            </a:p>
            <a:p>
              <a:pPr algn="ctr">
                <a:spcAft>
                  <a:spcPts val="0"/>
                </a:spcAft>
              </a:pPr>
              <a:r>
                <a:rPr sz="599" b="1" i="0">
                  <a:solidFill>
                    <a:srgbClr val="FFFFFF"/>
                  </a:solidFill>
                  <a:latin typeface="Segoe UI"/>
                </a:rPr>
                <a:t>Prediction</a:t>
              </a: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10610633" y="1190567"/>
              <a:ext cx="548548" cy="431002"/>
            </a:xfrm>
            <a:prstGeom prst="roundRect">
              <a:avLst>
                <a:gd name="adj" fmla="val 10000"/>
              </a:avLst>
            </a:prstGeom>
            <a:solidFill>
              <a:srgbClr val="0E5C24"/>
            </a:solidFill>
            <a:ln w="17780">
              <a:solidFill>
                <a:srgbClr val="4CD3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599" b="1" i="0">
                  <a:solidFill>
                    <a:srgbClr val="FFFFFF"/>
                  </a:solidFill>
                  <a:latin typeface="Segoe UI"/>
                </a:rPr>
                <a:t>Analytics &amp;</a:t>
              </a:r>
            </a:p>
            <a:p>
              <a:pPr algn="ctr">
                <a:spcAft>
                  <a:spcPts val="0"/>
                </a:spcAft>
              </a:pPr>
              <a:r>
                <a:rPr sz="599" b="1" i="0">
                  <a:solidFill>
                    <a:srgbClr val="FFFFFF"/>
                  </a:solidFill>
                  <a:latin typeface="Segoe UI"/>
                </a:rPr>
                <a:t>Insights</a:t>
              </a: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8353748" y="1950698"/>
            <a:ext cx="2170685" cy="564221"/>
            <a:chOff x="8353748" y="1950698"/>
            <a:chExt cx="2170685" cy="564221"/>
          </a:xfrm>
        </p:grpSpPr>
        <p:sp>
          <p:nvSpPr>
            <p:cNvPr id="79" name="Rounded Rectangle 78"/>
            <p:cNvSpPr/>
            <p:nvPr/>
          </p:nvSpPr>
          <p:spPr>
            <a:xfrm>
              <a:off x="8353748" y="1950698"/>
              <a:ext cx="2170685" cy="564221"/>
            </a:xfrm>
            <a:prstGeom prst="roundRect">
              <a:avLst>
                <a:gd name="adj" fmla="val 6000"/>
              </a:avLst>
            </a:prstGeom>
            <a:solidFill>
              <a:srgbClr val="14212E"/>
            </a:solidFill>
            <a:ln>
              <a:noFill/>
            </a:ln>
            <a:effectLst>
              <a:outerShdw blurRad="50800" dist="25400" dir="5400000" algn="t" rotWithShape="0">
                <a:srgbClr val="0B1622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8353748" y="1989880"/>
              <a:ext cx="2170685" cy="18807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1114" b="1" i="0">
                  <a:solidFill>
                    <a:srgbClr val="FFFFFF"/>
                  </a:solidFill>
                  <a:latin typeface="Segoe UI"/>
                </a:rPr>
                <a:t>AI Services Layer</a:t>
              </a:r>
            </a:p>
          </p:txBody>
        </p:sp>
        <p:sp>
          <p:nvSpPr>
            <p:cNvPr id="81" name="Rounded Rectangle 80"/>
            <p:cNvSpPr/>
            <p:nvPr/>
          </p:nvSpPr>
          <p:spPr>
            <a:xfrm>
              <a:off x="8408602" y="2201463"/>
              <a:ext cx="399656" cy="227255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 w="11430">
              <a:solidFill>
                <a:srgbClr val="CFCF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599" b="0" i="0">
                  <a:solidFill>
                    <a:srgbClr val="9A9A9A"/>
                  </a:solidFill>
                  <a:latin typeface="Segoe UI"/>
                </a:rPr>
                <a:t>RAG Pipeline</a:t>
              </a:r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8823932" y="2201463"/>
              <a:ext cx="368311" cy="227255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 w="11430">
              <a:solidFill>
                <a:srgbClr val="CFCF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599" b="0" i="0">
                  <a:solidFill>
                    <a:srgbClr val="9A9A9A"/>
                  </a:solidFill>
                  <a:latin typeface="Segoe UI"/>
                </a:rPr>
                <a:t>Agents</a:t>
              </a:r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9200080" y="2201463"/>
              <a:ext cx="446675" cy="227255"/>
            </a:xfrm>
            <a:prstGeom prst="roundRect">
              <a:avLst>
                <a:gd name="adj" fmla="val 10000"/>
              </a:avLst>
            </a:prstGeom>
            <a:solidFill>
              <a:srgbClr val="5A6068"/>
            </a:solidFill>
            <a:ln w="11430">
              <a:solidFill>
                <a:srgbClr val="8A92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42" b="0" i="0">
                  <a:solidFill>
                    <a:srgbClr val="FFFFFF"/>
                  </a:solidFill>
                  <a:latin typeface="Segoe UI"/>
                </a:rPr>
                <a:t>Workflows</a:t>
              </a:r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9662428" y="2201463"/>
              <a:ext cx="242928" cy="227255"/>
            </a:xfrm>
            <a:prstGeom prst="roundRect">
              <a:avLst>
                <a:gd name="adj" fmla="val 10000"/>
              </a:avLst>
            </a:prstGeom>
            <a:solidFill>
              <a:srgbClr val="5A6068"/>
            </a:solidFill>
            <a:ln w="11430">
              <a:solidFill>
                <a:srgbClr val="8A92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599" b="0" i="0">
                  <a:solidFill>
                    <a:srgbClr val="FFFFFF"/>
                  </a:solidFill>
                  <a:latin typeface="Segoe UI"/>
                </a:rPr>
                <a:t>API</a:t>
              </a:r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9928866" y="2201463"/>
              <a:ext cx="501530" cy="227255"/>
            </a:xfrm>
            <a:prstGeom prst="roundRect">
              <a:avLst>
                <a:gd name="adj" fmla="val 10000"/>
              </a:avLst>
            </a:prstGeom>
            <a:solidFill>
              <a:srgbClr val="5A6068"/>
            </a:solidFill>
            <a:ln w="11430">
              <a:solidFill>
                <a:srgbClr val="8A92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42" b="0" i="0">
                  <a:solidFill>
                    <a:srgbClr val="FFFFFF"/>
                  </a:solidFill>
                  <a:latin typeface="Segoe UI"/>
                </a:rPr>
                <a:t>Dashboards</a:t>
              </a: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8612349" y="2734339"/>
            <a:ext cx="1614300" cy="611239"/>
            <a:chOff x="8612349" y="2734339"/>
            <a:chExt cx="1614300" cy="611239"/>
          </a:xfrm>
        </p:grpSpPr>
        <p:sp>
          <p:nvSpPr>
            <p:cNvPr id="87" name="Rounded Rectangle 86"/>
            <p:cNvSpPr/>
            <p:nvPr/>
          </p:nvSpPr>
          <p:spPr>
            <a:xfrm>
              <a:off x="8612349" y="2734339"/>
              <a:ext cx="1614300" cy="611239"/>
            </a:xfrm>
            <a:prstGeom prst="roundRect">
              <a:avLst>
                <a:gd name="adj" fmla="val 5000"/>
              </a:avLst>
            </a:prstGeom>
            <a:solidFill>
              <a:srgbClr val="EFEFEF"/>
            </a:solidFill>
            <a:ln w="15240">
              <a:solidFill>
                <a:srgbClr val="CFCFCF"/>
              </a:solidFill>
            </a:ln>
            <a:effectLst>
              <a:outerShdw blurRad="50800" dist="25400" dir="5400000" algn="t" rotWithShape="0">
                <a:srgbClr val="0B1622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8612349" y="2773521"/>
              <a:ext cx="1614300" cy="18807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1071" b="1" i="0">
                  <a:solidFill>
                    <a:srgbClr val="9A9A9A"/>
                  </a:solidFill>
                  <a:latin typeface="Segoe UI"/>
                </a:rPr>
                <a:t>MCP Interface</a:t>
              </a:r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8667204" y="3055632"/>
              <a:ext cx="485857" cy="227255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 w="11430">
              <a:solidFill>
                <a:srgbClr val="CFCF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557" b="0" i="0">
                  <a:solidFill>
                    <a:srgbClr val="9A9A9A"/>
                  </a:solidFill>
                  <a:latin typeface="Segoe UI"/>
                </a:rPr>
                <a:t>External</a:t>
              </a:r>
            </a:p>
            <a:p>
              <a:pPr algn="ctr">
                <a:spcAft>
                  <a:spcPts val="0"/>
                </a:spcAft>
              </a:pPr>
              <a:r>
                <a:rPr sz="557" b="0" i="0">
                  <a:solidFill>
                    <a:srgbClr val="9A9A9A"/>
                  </a:solidFill>
                  <a:latin typeface="Segoe UI"/>
                </a:rPr>
                <a:t>Services</a:t>
              </a:r>
            </a:p>
          </p:txBody>
        </p:sp>
        <p:sp>
          <p:nvSpPr>
            <p:cNvPr id="90" name="Rounded Rectangle 89"/>
            <p:cNvSpPr/>
            <p:nvPr/>
          </p:nvSpPr>
          <p:spPr>
            <a:xfrm>
              <a:off x="9176570" y="3055632"/>
              <a:ext cx="485857" cy="227255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 w="11430">
              <a:solidFill>
                <a:srgbClr val="CFCF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557" b="0" i="0">
                  <a:solidFill>
                    <a:srgbClr val="9A9A9A"/>
                  </a:solidFill>
                  <a:latin typeface="Segoe UI"/>
                </a:rPr>
                <a:t>Internal</a:t>
              </a:r>
            </a:p>
            <a:p>
              <a:pPr algn="ctr">
                <a:spcAft>
                  <a:spcPts val="0"/>
                </a:spcAft>
              </a:pPr>
              <a:r>
                <a:rPr sz="557" b="0" i="0">
                  <a:solidFill>
                    <a:srgbClr val="9A9A9A"/>
                  </a:solidFill>
                  <a:latin typeface="Segoe UI"/>
                </a:rPr>
                <a:t>Sources</a:t>
              </a:r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9685937" y="3055632"/>
              <a:ext cx="485857" cy="227255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 w="11430">
              <a:solidFill>
                <a:srgbClr val="CFCF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557" b="0" i="0">
                  <a:solidFill>
                    <a:srgbClr val="9A9A9A"/>
                  </a:solidFill>
                  <a:latin typeface="Segoe UI"/>
                </a:rPr>
                <a:t>Enterprise</a:t>
              </a:r>
            </a:p>
            <a:p>
              <a:pPr algn="ctr">
                <a:spcAft>
                  <a:spcPts val="0"/>
                </a:spcAft>
              </a:pPr>
              <a:r>
                <a:rPr sz="557" b="0" i="0">
                  <a:solidFill>
                    <a:srgbClr val="9A9A9A"/>
                  </a:solidFill>
                  <a:latin typeface="Segoe UI"/>
                </a:rPr>
                <a:t>Systems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8032455" y="3439616"/>
            <a:ext cx="2797597" cy="1496753"/>
            <a:chOff x="8032455" y="3439616"/>
            <a:chExt cx="2797597" cy="1496753"/>
          </a:xfrm>
        </p:grpSpPr>
        <p:sp>
          <p:nvSpPr>
            <p:cNvPr id="93" name="Rounded Rectangle 92"/>
            <p:cNvSpPr/>
            <p:nvPr/>
          </p:nvSpPr>
          <p:spPr>
            <a:xfrm>
              <a:off x="8032455" y="3439616"/>
              <a:ext cx="2797597" cy="1496753"/>
            </a:xfrm>
            <a:prstGeom prst="roundRect">
              <a:avLst>
                <a:gd name="adj" fmla="val 3000"/>
              </a:avLst>
            </a:prstGeom>
            <a:noFill/>
            <a:ln w="3048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Rounded Rectangle 93"/>
            <p:cNvSpPr/>
            <p:nvPr/>
          </p:nvSpPr>
          <p:spPr>
            <a:xfrm>
              <a:off x="8118655" y="3580671"/>
              <a:ext cx="2609523" cy="1285170"/>
            </a:xfrm>
            <a:prstGeom prst="roundRect">
              <a:avLst>
                <a:gd name="adj" fmla="val 4000"/>
              </a:avLst>
            </a:prstGeom>
            <a:gradFill rotWithShape="1">
              <a:gsLst>
                <a:gs pos="0">
                  <a:srgbClr val="0E2D1E"/>
                </a:gs>
                <a:gs pos="100000">
                  <a:srgbClr val="132E31"/>
                </a:gs>
              </a:gsLst>
              <a:lin ang="5400000" scaled="0"/>
            </a:gradFill>
            <a:ln>
              <a:noFill/>
            </a:ln>
            <a:effectLst>
              <a:outerShdw blurRad="50800" dist="25400" dir="5400000" algn="t" rotWithShape="0">
                <a:srgbClr val="0B1622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8118655" y="3619853"/>
              <a:ext cx="2609523" cy="20374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1156" b="1" i="0">
                  <a:solidFill>
                    <a:srgbClr val="FFFFFF"/>
                  </a:solidFill>
                  <a:latin typeface="Segoe UI"/>
                </a:rPr>
                <a:t>LLM Gateway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8236201" y="3886291"/>
              <a:ext cx="1026569" cy="1567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857" b="1" i="0">
                  <a:solidFill>
                    <a:srgbClr val="CFE0D6"/>
                  </a:solidFill>
                  <a:latin typeface="Segoe UI"/>
                </a:rPr>
                <a:t>Paid LLMs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9458681" y="3886291"/>
              <a:ext cx="1097097" cy="1567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814" b="1" i="0">
                  <a:solidFill>
                    <a:srgbClr val="CFE0D6"/>
                  </a:solidFill>
                  <a:latin typeface="Segoe UI"/>
                </a:rPr>
                <a:t>Open Source LLMs</a:t>
              </a:r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8236201" y="4105710"/>
              <a:ext cx="1026569" cy="172400"/>
            </a:xfrm>
            <a:prstGeom prst="roundRect">
              <a:avLst>
                <a:gd name="adj" fmla="val 12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0" i="0">
                  <a:solidFill>
                    <a:srgbClr val="9A9A9A"/>
                  </a:solidFill>
                  <a:latin typeface="Segoe UI"/>
                </a:rPr>
                <a:t>Anthropic Claude</a:t>
              </a:r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8236201" y="4293784"/>
              <a:ext cx="1026569" cy="172400"/>
            </a:xfrm>
            <a:prstGeom prst="roundRect">
              <a:avLst>
                <a:gd name="adj" fmla="val 12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0" i="0">
                  <a:solidFill>
                    <a:srgbClr val="9A9A9A"/>
                  </a:solidFill>
                  <a:latin typeface="Segoe UI"/>
                </a:rPr>
                <a:t>Azure OpenAI</a:t>
              </a:r>
            </a:p>
          </p:txBody>
        </p:sp>
        <p:sp>
          <p:nvSpPr>
            <p:cNvPr id="100" name="Rounded Rectangle 99"/>
            <p:cNvSpPr/>
            <p:nvPr/>
          </p:nvSpPr>
          <p:spPr>
            <a:xfrm>
              <a:off x="8236201" y="4481858"/>
              <a:ext cx="1026569" cy="172400"/>
            </a:xfrm>
            <a:prstGeom prst="roundRect">
              <a:avLst>
                <a:gd name="adj" fmla="val 12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0" i="0">
                  <a:solidFill>
                    <a:srgbClr val="9A9A9A"/>
                  </a:solidFill>
                  <a:latin typeface="Segoe UI"/>
                </a:rPr>
                <a:t>OpenAI GPT-4.0</a:t>
              </a:r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9458681" y="4058692"/>
              <a:ext cx="1097097" cy="141055"/>
            </a:xfrm>
            <a:prstGeom prst="roundRect">
              <a:avLst>
                <a:gd name="adj" fmla="val 14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0" i="0">
                  <a:solidFill>
                    <a:srgbClr val="9A9A9A"/>
                  </a:solidFill>
                  <a:latin typeface="Segoe UI"/>
                </a:rPr>
                <a:t>Llama 3</a:t>
              </a:r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9458681" y="4215420"/>
              <a:ext cx="1097097" cy="141055"/>
            </a:xfrm>
            <a:prstGeom prst="roundRect">
              <a:avLst>
                <a:gd name="adj" fmla="val 14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0" i="0">
                  <a:solidFill>
                    <a:srgbClr val="9A9A9A"/>
                  </a:solidFill>
                  <a:latin typeface="Segoe UI"/>
                </a:rPr>
                <a:t>Mistral</a:t>
              </a:r>
            </a:p>
          </p:txBody>
        </p:sp>
        <p:sp>
          <p:nvSpPr>
            <p:cNvPr id="103" name="Rounded Rectangle 102"/>
            <p:cNvSpPr/>
            <p:nvPr/>
          </p:nvSpPr>
          <p:spPr>
            <a:xfrm>
              <a:off x="9458681" y="4372148"/>
              <a:ext cx="1097097" cy="141055"/>
            </a:xfrm>
            <a:prstGeom prst="roundRect">
              <a:avLst>
                <a:gd name="adj" fmla="val 14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0" i="0">
                  <a:solidFill>
                    <a:srgbClr val="9A9A9A"/>
                  </a:solidFill>
                  <a:latin typeface="Segoe UI"/>
                </a:rPr>
                <a:t>Deepseek</a:t>
              </a:r>
            </a:p>
          </p:txBody>
        </p:sp>
        <p:sp>
          <p:nvSpPr>
            <p:cNvPr id="104" name="Rounded Rectangle 103"/>
            <p:cNvSpPr/>
            <p:nvPr/>
          </p:nvSpPr>
          <p:spPr>
            <a:xfrm>
              <a:off x="9458681" y="4528876"/>
              <a:ext cx="1097097" cy="141055"/>
            </a:xfrm>
            <a:prstGeom prst="roundRect">
              <a:avLst>
                <a:gd name="adj" fmla="val 14000"/>
              </a:avLst>
            </a:prstGeom>
            <a:solidFill>
              <a:srgbClr val="0E5C24"/>
            </a:solidFill>
            <a:ln w="15240">
              <a:solidFill>
                <a:srgbClr val="4CD3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1" i="0">
                  <a:solidFill>
                    <a:srgbClr val="FFFFFF"/>
                  </a:solidFill>
                  <a:latin typeface="Segoe UI"/>
                </a:rPr>
                <a:t>Local LLMs</a:t>
              </a:r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9458681" y="4685605"/>
              <a:ext cx="1097097" cy="141055"/>
            </a:xfrm>
            <a:prstGeom prst="roundRect">
              <a:avLst>
                <a:gd name="adj" fmla="val 14000"/>
              </a:avLst>
            </a:prstGeom>
            <a:solidFill>
              <a:srgbClr val="0E5C24"/>
            </a:solidFill>
            <a:ln w="15240">
              <a:solidFill>
                <a:srgbClr val="4CD37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599" b="1" i="0">
                  <a:solidFill>
                    <a:srgbClr val="FFFFFF"/>
                  </a:solidFill>
                  <a:latin typeface="Segoe UI"/>
                </a:rPr>
                <a:t>2nd local model · fallback</a:t>
              </a: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4231797" y="4003837"/>
            <a:ext cx="3526383" cy="611239"/>
            <a:chOff x="4231797" y="4003837"/>
            <a:chExt cx="3526383" cy="611239"/>
          </a:xfrm>
        </p:grpSpPr>
        <p:sp>
          <p:nvSpPr>
            <p:cNvPr id="107" name="Rounded Rectangle 106"/>
            <p:cNvSpPr/>
            <p:nvPr/>
          </p:nvSpPr>
          <p:spPr>
            <a:xfrm>
              <a:off x="4231797" y="4003837"/>
              <a:ext cx="3526383" cy="611239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254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4302325" y="4058692"/>
              <a:ext cx="1504590" cy="50153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771" b="1" i="0">
                  <a:solidFill>
                    <a:srgbClr val="FF0000"/>
                  </a:solidFill>
                  <a:latin typeface="Segoe UI"/>
                </a:rPr>
                <a:t>Foundational Models</a:t>
              </a:r>
            </a:p>
            <a:p>
              <a:pPr algn="l">
                <a:spcAft>
                  <a:spcPts val="0"/>
                </a:spcAft>
              </a:pPr>
              <a:r>
                <a:rPr sz="771" b="1" i="0">
                  <a:solidFill>
                    <a:srgbClr val="FF0000"/>
                  </a:solidFill>
                  <a:latin typeface="Segoe UI"/>
                </a:rPr>
                <a:t>(Token factory)</a:t>
              </a:r>
            </a:p>
            <a:p>
              <a:pPr algn="l">
                <a:spcAft>
                  <a:spcPts val="0"/>
                </a:spcAft>
              </a:pPr>
              <a:r>
                <a:rPr sz="531" b="1" i="0">
                  <a:solidFill>
                    <a:srgbClr val="7A2020"/>
                  </a:solidFill>
                  <a:latin typeface="Segoe UI"/>
                </a:rPr>
                <a:t>internal GPU — 1× NVIDIA H100 NVL</a:t>
              </a:r>
            </a:p>
            <a:p>
              <a:pPr algn="l">
                <a:spcAft>
                  <a:spcPts val="0"/>
                </a:spcAft>
              </a:pPr>
              <a:r>
                <a:rPr sz="531" b="1" i="0">
                  <a:solidFill>
                    <a:srgbClr val="7A2020"/>
                  </a:solidFill>
                  <a:latin typeface="Segoe UI"/>
                </a:rPr>
                <a:t>· ~94 GB VRAM</a:t>
              </a:r>
            </a:p>
          </p:txBody>
        </p:sp>
        <p:sp>
          <p:nvSpPr>
            <p:cNvPr id="109" name="Rounded Rectangle 108"/>
            <p:cNvSpPr/>
            <p:nvPr/>
          </p:nvSpPr>
          <p:spPr>
            <a:xfrm>
              <a:off x="5853933" y="4058692"/>
              <a:ext cx="595567" cy="501530"/>
            </a:xfrm>
            <a:prstGeom prst="roundRect">
              <a:avLst>
                <a:gd name="adj" fmla="val 8000"/>
              </a:avLst>
            </a:prstGeom>
            <a:solidFill>
              <a:srgbClr val="FFF2F2"/>
            </a:solidFill>
            <a:ln w="13970">
              <a:solidFill>
                <a:srgbClr val="FF00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728" b="1" i="0">
                  <a:solidFill>
                    <a:srgbClr val="7A2020"/>
                  </a:solidFill>
                  <a:latin typeface="Segoe UI"/>
                </a:rPr>
                <a:t>ASR pool</a:t>
              </a:r>
            </a:p>
            <a:p>
              <a:pPr algn="ctr">
                <a:spcAft>
                  <a:spcPts val="0"/>
                </a:spcAft>
              </a:pPr>
              <a:r>
                <a:rPr sz="514" b="1" i="0">
                  <a:solidFill>
                    <a:srgbClr val="8C2F2F"/>
                  </a:solidFill>
                  <a:latin typeface="Segoe UI"/>
                </a:rPr>
                <a:t>Qwen3-ASR-1.7B</a:t>
              </a:r>
            </a:p>
          </p:txBody>
        </p:sp>
        <p:sp>
          <p:nvSpPr>
            <p:cNvPr id="110" name="Rounded Rectangle 109"/>
            <p:cNvSpPr/>
            <p:nvPr/>
          </p:nvSpPr>
          <p:spPr>
            <a:xfrm>
              <a:off x="6480846" y="4058692"/>
              <a:ext cx="595567" cy="501530"/>
            </a:xfrm>
            <a:prstGeom prst="roundRect">
              <a:avLst>
                <a:gd name="adj" fmla="val 8000"/>
              </a:avLst>
            </a:prstGeom>
            <a:solidFill>
              <a:srgbClr val="FFF2F2"/>
            </a:solidFill>
            <a:ln w="1397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728" b="1" i="0">
                  <a:solidFill>
                    <a:srgbClr val="7A2020"/>
                  </a:solidFill>
                  <a:latin typeface="Segoe UI"/>
                </a:rPr>
                <a:t>LLM pool</a:t>
              </a:r>
            </a:p>
            <a:p>
              <a:pPr algn="ctr">
                <a:spcAft>
                  <a:spcPts val="0"/>
                </a:spcAft>
              </a:pPr>
              <a:r>
                <a:rPr sz="514" b="1" i="0">
                  <a:solidFill>
                    <a:srgbClr val="8C2F2F"/>
                  </a:solidFill>
                  <a:latin typeface="Segoe UI"/>
                </a:rPr>
                <a:t>Qwen3.6-27B</a:t>
              </a:r>
            </a:p>
            <a:p>
              <a:pPr algn="ctr">
                <a:spcAft>
                  <a:spcPts val="0"/>
                </a:spcAft>
              </a:pPr>
              <a:r>
                <a:rPr sz="514" b="1" i="0">
                  <a:solidFill>
                    <a:srgbClr val="8C2F2F"/>
                  </a:solidFill>
                  <a:latin typeface="Segoe UI"/>
                </a:rPr>
                <a:t>Gemma-4-12B-it</a:t>
              </a:r>
            </a:p>
          </p:txBody>
        </p:sp>
        <p:sp>
          <p:nvSpPr>
            <p:cNvPr id="111" name="Rounded Rectangle 110"/>
            <p:cNvSpPr/>
            <p:nvPr/>
          </p:nvSpPr>
          <p:spPr>
            <a:xfrm>
              <a:off x="7107759" y="4058692"/>
              <a:ext cx="595567" cy="501530"/>
            </a:xfrm>
            <a:prstGeom prst="roundRect">
              <a:avLst>
                <a:gd name="adj" fmla="val 8000"/>
              </a:avLst>
            </a:prstGeom>
            <a:solidFill>
              <a:srgbClr val="FFF2F2"/>
            </a:solidFill>
            <a:ln w="1397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728" b="1" i="0">
                  <a:solidFill>
                    <a:srgbClr val="7A2020"/>
                  </a:solidFill>
                  <a:latin typeface="Segoe UI"/>
                </a:rPr>
                <a:t>Vision pool</a:t>
              </a:r>
            </a:p>
            <a:p>
              <a:pPr algn="ctr">
                <a:spcAft>
                  <a:spcPts val="0"/>
                </a:spcAft>
              </a:pPr>
              <a:r>
                <a:rPr sz="514" b="1" i="0">
                  <a:solidFill>
                    <a:srgbClr val="8C2F2F"/>
                  </a:solidFill>
                  <a:latin typeface="Segoe UI"/>
                </a:rPr>
                <a:t>later waves</a:t>
              </a: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4231797" y="4677768"/>
            <a:ext cx="3761475" cy="548548"/>
            <a:chOff x="4231797" y="4677768"/>
            <a:chExt cx="3761475" cy="548548"/>
          </a:xfrm>
        </p:grpSpPr>
        <p:sp>
          <p:nvSpPr>
            <p:cNvPr id="113" name="Rounded Rectangle 112"/>
            <p:cNvSpPr/>
            <p:nvPr/>
          </p:nvSpPr>
          <p:spPr>
            <a:xfrm>
              <a:off x="4231797" y="4677768"/>
              <a:ext cx="3761475" cy="548548"/>
            </a:xfrm>
            <a:prstGeom prst="roundRect">
              <a:avLst>
                <a:gd name="adj" fmla="val 6000"/>
              </a:avLst>
            </a:prstGeom>
            <a:solidFill>
              <a:srgbClr val="FFFBF0"/>
            </a:solidFill>
            <a:ln w="22860">
              <a:solidFill>
                <a:srgbClr val="C98A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4333670" y="4716950"/>
              <a:ext cx="3134563" cy="1567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sz="814" b="1" i="0">
                  <a:solidFill>
                    <a:srgbClr val="8A5E00"/>
                  </a:solidFill>
                  <a:latin typeface="Segoe UI"/>
                </a:rPr>
                <a:t>APPLICATION SIDE — True-owned, new</a:t>
              </a:r>
            </a:p>
          </p:txBody>
        </p:sp>
        <p:sp>
          <p:nvSpPr>
            <p:cNvPr id="115" name="Rounded Rectangle 114"/>
            <p:cNvSpPr/>
            <p:nvPr/>
          </p:nvSpPr>
          <p:spPr>
            <a:xfrm>
              <a:off x="4310161" y="4889351"/>
              <a:ext cx="681767" cy="28211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C98A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1" i="0">
                  <a:solidFill>
                    <a:srgbClr val="5C4300"/>
                  </a:solidFill>
                  <a:latin typeface="Segoe UI"/>
                </a:rPr>
                <a:t>Internal API</a:t>
              </a:r>
            </a:p>
            <a:p>
              <a:pPr algn="ctr">
                <a:spcAft>
                  <a:spcPts val="0"/>
                </a:spcAft>
              </a:pPr>
              <a:r>
                <a:rPr sz="557" b="1" i="0">
                  <a:solidFill>
                    <a:srgbClr val="6B5200"/>
                  </a:solidFill>
                  <a:latin typeface="Segoe UI"/>
                </a:rPr>
                <a:t>job ID · poll</a:t>
              </a:r>
            </a:p>
          </p:txBody>
        </p:sp>
        <p:sp>
          <p:nvSpPr>
            <p:cNvPr id="116" name="Rounded Rectangle 115"/>
            <p:cNvSpPr/>
            <p:nvPr/>
          </p:nvSpPr>
          <p:spPr>
            <a:xfrm>
              <a:off x="5038947" y="4889351"/>
              <a:ext cx="681767" cy="28211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C98A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1" i="0">
                  <a:solidFill>
                    <a:srgbClr val="5C4300"/>
                  </a:solidFill>
                  <a:latin typeface="Segoe UI"/>
                </a:rPr>
                <a:t>Broker</a:t>
              </a:r>
            </a:p>
            <a:p>
              <a:pPr algn="ctr">
                <a:spcAft>
                  <a:spcPts val="0"/>
                </a:spcAft>
              </a:pPr>
              <a:r>
                <a:rPr sz="557" b="1" i="0">
                  <a:solidFill>
                    <a:srgbClr val="6B5200"/>
                  </a:solidFill>
                  <a:latin typeface="Segoe UI"/>
                </a:rPr>
                <a:t>queues · DLQ</a:t>
              </a:r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5767733" y="4889351"/>
              <a:ext cx="681767" cy="28211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C98A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1" i="0">
                  <a:solidFill>
                    <a:srgbClr val="5C4300"/>
                  </a:solidFill>
                  <a:latin typeface="Segoe UI"/>
                </a:rPr>
                <a:t>Workers</a:t>
              </a:r>
            </a:p>
            <a:p>
              <a:pPr algn="ctr">
                <a:spcAft>
                  <a:spcPts val="0"/>
                </a:spcAft>
              </a:pPr>
              <a:r>
                <a:rPr sz="557" b="1" i="0">
                  <a:solidFill>
                    <a:srgbClr val="6B5200"/>
                  </a:solidFill>
                  <a:latin typeface="Segoe UI"/>
                </a:rPr>
                <a:t>decode · retry</a:t>
              </a:r>
            </a:p>
          </p:txBody>
        </p:sp>
        <p:sp>
          <p:nvSpPr>
            <p:cNvPr id="118" name="Rounded Rectangle 117"/>
            <p:cNvSpPr/>
            <p:nvPr/>
          </p:nvSpPr>
          <p:spPr>
            <a:xfrm>
              <a:off x="6496519" y="4889351"/>
              <a:ext cx="681767" cy="28211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C98A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1" i="0">
                  <a:solidFill>
                    <a:srgbClr val="5C4300"/>
                  </a:solidFill>
                  <a:latin typeface="Segoe UI"/>
                </a:rPr>
                <a:t>Object store</a:t>
              </a:r>
            </a:p>
            <a:p>
              <a:pPr algn="ctr">
                <a:spcAft>
                  <a:spcPts val="0"/>
                </a:spcAft>
              </a:pPr>
              <a:r>
                <a:rPr sz="557" b="1" i="0">
                  <a:solidFill>
                    <a:srgbClr val="6B5200"/>
                  </a:solidFill>
                  <a:latin typeface="Segoe UI"/>
                </a:rPr>
                <a:t>audio · images</a:t>
              </a:r>
            </a:p>
          </p:txBody>
        </p:sp>
        <p:sp>
          <p:nvSpPr>
            <p:cNvPr id="119" name="Rounded Rectangle 118"/>
            <p:cNvSpPr/>
            <p:nvPr/>
          </p:nvSpPr>
          <p:spPr>
            <a:xfrm>
              <a:off x="7225305" y="4889351"/>
              <a:ext cx="681767" cy="28211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C98A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1" i="0">
                  <a:solidFill>
                    <a:srgbClr val="5C4300"/>
                  </a:solidFill>
                  <a:latin typeface="Segoe UI"/>
                </a:rPr>
                <a:t>Job state</a:t>
              </a:r>
            </a:p>
            <a:p>
              <a:pPr algn="ctr">
                <a:spcAft>
                  <a:spcPts val="0"/>
                </a:spcAft>
              </a:pPr>
              <a:r>
                <a:rPr sz="557" b="1" i="0">
                  <a:solidFill>
                    <a:srgbClr val="6B5200"/>
                  </a:solidFill>
                  <a:latin typeface="Segoe UI"/>
                </a:rPr>
                <a:t>PostgreSQL</a:t>
              </a: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024990" y="5281172"/>
            <a:ext cx="3784985" cy="705276"/>
            <a:chOff x="3024990" y="5281172"/>
            <a:chExt cx="3784985" cy="705276"/>
          </a:xfrm>
        </p:grpSpPr>
        <p:sp>
          <p:nvSpPr>
            <p:cNvPr id="121" name="Rounded Rectangle 120"/>
            <p:cNvSpPr/>
            <p:nvPr/>
          </p:nvSpPr>
          <p:spPr>
            <a:xfrm>
              <a:off x="3024990" y="5383045"/>
              <a:ext cx="3784985" cy="603403"/>
            </a:xfrm>
            <a:prstGeom prst="roundRect">
              <a:avLst>
                <a:gd name="adj" fmla="val 6000"/>
              </a:avLst>
            </a:prstGeom>
            <a:gradFill rotWithShape="1">
              <a:gsLst>
                <a:gs pos="0">
                  <a:srgbClr val="14212E"/>
                </a:gs>
                <a:gs pos="100000">
                  <a:srgbClr val="192E48"/>
                </a:gs>
              </a:gsLst>
              <a:lin ang="5400000" scaled="0"/>
            </a:gradFill>
            <a:ln>
              <a:noFill/>
            </a:ln>
            <a:effectLst>
              <a:outerShdw blurRad="50800" dist="25400" dir="5400000" algn="t" rotWithShape="0">
                <a:srgbClr val="0B1622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3072009" y="5281172"/>
              <a:ext cx="2107993" cy="258601"/>
            </a:xfrm>
            <a:prstGeom prst="roundRect">
              <a:avLst>
                <a:gd name="adj" fmla="val 9000"/>
              </a:avLst>
            </a:prstGeom>
            <a:solidFill>
              <a:srgbClr val="1421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1028" b="1" i="0">
                  <a:solidFill>
                    <a:srgbClr val="FFFFFF"/>
                  </a:solidFill>
                  <a:latin typeface="Segoe UI"/>
                </a:rPr>
                <a:t>Enterprise Data Sources</a:t>
              </a:r>
            </a:p>
          </p:txBody>
        </p:sp>
        <p:sp>
          <p:nvSpPr>
            <p:cNvPr id="123" name="Rounded Rectangle 122"/>
            <p:cNvSpPr/>
            <p:nvPr/>
          </p:nvSpPr>
          <p:spPr>
            <a:xfrm>
              <a:off x="3087681" y="5578955"/>
              <a:ext cx="339316" cy="360474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1" i="0">
                  <a:solidFill>
                    <a:srgbClr val="9A9A9A"/>
                  </a:solidFill>
                  <a:latin typeface="Segoe UI"/>
                </a:rPr>
                <a:t>CRM</a:t>
              </a:r>
            </a:p>
          </p:txBody>
        </p:sp>
        <p:sp>
          <p:nvSpPr>
            <p:cNvPr id="124" name="Rounded Rectangle 123"/>
            <p:cNvSpPr/>
            <p:nvPr/>
          </p:nvSpPr>
          <p:spPr>
            <a:xfrm>
              <a:off x="3437028" y="5578955"/>
              <a:ext cx="582323" cy="360474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1" i="0">
                  <a:solidFill>
                    <a:srgbClr val="9A9A9A"/>
                  </a:solidFill>
                  <a:latin typeface="Segoe UI"/>
                </a:rPr>
                <a:t>OSS/BSS</a:t>
              </a:r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3953448" y="5578955"/>
              <a:ext cx="589924" cy="360474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1" i="0">
                  <a:solidFill>
                    <a:srgbClr val="9A9A9A"/>
                  </a:solidFill>
                  <a:latin typeface="Segoe UI"/>
                </a:rPr>
                <a:t>Network</a:t>
              </a:r>
            </a:p>
          </p:txBody>
        </p:sp>
        <p:sp>
          <p:nvSpPr>
            <p:cNvPr id="126" name="Rounded Rectangle 125"/>
            <p:cNvSpPr/>
            <p:nvPr/>
          </p:nvSpPr>
          <p:spPr>
            <a:xfrm>
              <a:off x="4523076" y="5578955"/>
              <a:ext cx="476061" cy="360474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1" i="0">
                  <a:solidFill>
                    <a:srgbClr val="9A9A9A"/>
                  </a:solidFill>
                  <a:latin typeface="Segoe UI"/>
                </a:rPr>
                <a:t>Tickets</a:t>
              </a:r>
            </a:p>
          </p:txBody>
        </p:sp>
        <p:sp>
          <p:nvSpPr>
            <p:cNvPr id="127" name="Rounded Rectangle 126"/>
            <p:cNvSpPr/>
            <p:nvPr/>
          </p:nvSpPr>
          <p:spPr>
            <a:xfrm>
              <a:off x="4978685" y="5578955"/>
              <a:ext cx="749474" cy="360474"/>
            </a:xfrm>
            <a:prstGeom prst="roundRect">
              <a:avLst>
                <a:gd name="adj" fmla="val 10000"/>
              </a:avLst>
            </a:prstGeom>
            <a:solidFill>
              <a:srgbClr val="2A4A72"/>
            </a:solidFill>
            <a:ln w="15240">
              <a:solidFill>
                <a:srgbClr val="7FB3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1" i="0">
                  <a:solidFill>
                    <a:srgbClr val="FFFFFF"/>
                  </a:solidFill>
                  <a:latin typeface="Segoe UI"/>
                </a:rPr>
                <a:t>Documents</a:t>
              </a:r>
            </a:p>
          </p:txBody>
        </p:sp>
        <p:sp>
          <p:nvSpPr>
            <p:cNvPr id="128" name="Rounded Rectangle 127"/>
            <p:cNvSpPr/>
            <p:nvPr/>
          </p:nvSpPr>
          <p:spPr>
            <a:xfrm>
              <a:off x="5662255" y="5578955"/>
              <a:ext cx="445656" cy="360474"/>
            </a:xfrm>
            <a:prstGeom prst="roundRect">
              <a:avLst>
                <a:gd name="adj" fmla="val 10000"/>
              </a:avLst>
            </a:prstGeom>
            <a:solidFill>
              <a:srgbClr val="2A4A72"/>
            </a:solidFill>
            <a:ln w="15240">
              <a:solidFill>
                <a:srgbClr val="7FB3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1" i="0">
                  <a:solidFill>
                    <a:srgbClr val="FFFFFF"/>
                  </a:solidFill>
                  <a:latin typeface="Segoe UI"/>
                </a:rPr>
                <a:t>Cloud</a:t>
              </a:r>
            </a:p>
          </p:txBody>
        </p:sp>
        <p:sp>
          <p:nvSpPr>
            <p:cNvPr id="129" name="Rounded Rectangle 128"/>
            <p:cNvSpPr/>
            <p:nvPr/>
          </p:nvSpPr>
          <p:spPr>
            <a:xfrm>
              <a:off x="6049530" y="5578955"/>
              <a:ext cx="673460" cy="360474"/>
            </a:xfrm>
            <a:prstGeom prst="roundRect">
              <a:avLst>
                <a:gd name="adj" fmla="val 10000"/>
              </a:avLst>
            </a:prstGeom>
            <a:solidFill>
              <a:srgbClr val="E2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685" b="1" i="0">
                  <a:solidFill>
                    <a:srgbClr val="9A9A9A"/>
                  </a:solidFill>
                  <a:latin typeface="Segoe UI"/>
                </a:rPr>
                <a:t>Databases</a:t>
              </a:r>
            </a:p>
          </p:txBody>
        </p:sp>
      </p:grpSp>
      <p:sp>
        <p:nvSpPr>
          <p:cNvPr id="131" name="Rounded Rectangle 130"/>
          <p:cNvSpPr/>
          <p:nvPr/>
        </p:nvSpPr>
        <p:spPr>
          <a:xfrm>
            <a:off x="7139104" y="5445736"/>
            <a:ext cx="1676991" cy="462348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E2D1E"/>
              </a:gs>
              <a:gs pos="100000">
                <a:srgbClr val="132E31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srgbClr val="0B162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42" b="1" i="0">
                <a:solidFill>
                  <a:srgbClr val="FFFFFF"/>
                </a:solidFill>
                <a:latin typeface="Segoe UI"/>
              </a:rPr>
              <a:t>Data Ingestion &amp; ETL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9113879" y="5445736"/>
            <a:ext cx="2021793" cy="462348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E2D1E"/>
              </a:gs>
              <a:gs pos="100000">
                <a:srgbClr val="132E31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srgbClr val="0B162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42" b="1" i="0">
                <a:solidFill>
                  <a:srgbClr val="FFFFFF"/>
                </a:solidFill>
                <a:latin typeface="Segoe UI"/>
              </a:rPr>
              <a:t>Data Lake &amp; Vector Store</a:t>
            </a:r>
          </a:p>
          <a:p>
            <a:pPr algn="ctr">
              <a:spcAft>
                <a:spcPts val="0"/>
              </a:spcAft>
            </a:pPr>
            <a:r>
              <a:rPr sz="557" b="1" i="0">
                <a:solidFill>
                  <a:srgbClr val="A9BCC9"/>
                </a:solidFill>
                <a:latin typeface="Segoe UI"/>
              </a:rPr>
              <a:t>object store · transcripts · job state · PDPA audit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113879" y="5923757"/>
            <a:ext cx="2021793" cy="1410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599" b="0" i="1">
                <a:solidFill>
                  <a:srgbClr val="ADADAD"/>
                </a:solidFill>
                <a:latin typeface="Segoe UI"/>
              </a:rPr>
              <a:t>vector search in later waves</a:t>
            </a:r>
          </a:p>
        </p:txBody>
      </p:sp>
      <p:cxnSp>
        <p:nvCxnSpPr>
          <p:cNvPr id="134" name="Connector 133"/>
          <p:cNvCxnSpPr/>
          <p:nvPr/>
        </p:nvCxnSpPr>
        <p:spPr>
          <a:xfrm flipH="1">
            <a:off x="4137760" y="2671648"/>
            <a:ext cx="1253825" cy="0"/>
          </a:xfrm>
          <a:prstGeom prst="line">
            <a:avLst/>
          </a:prstGeom>
          <a:ln w="13060">
            <a:solidFill>
              <a:srgbClr val="C9CDD2"/>
            </a:solidFill>
            <a:tailEnd type="triangle" w="med" len="med"/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6261427" y="4615077"/>
            <a:ext cx="0" cy="62691"/>
          </a:xfrm>
          <a:prstGeom prst="line">
            <a:avLst/>
          </a:prstGeom>
          <a:ln w="13060">
            <a:solidFill>
              <a:srgbClr val="2F3A45"/>
            </a:solidFill>
            <a:tailEnd type="triangle" w="med" len="med"/>
          </a:ln>
          <a:effectLst/>
        </p:spPr>
      </p:cxnSp>
      <p:cxnSp>
        <p:nvCxnSpPr>
          <p:cNvPr id="136" name="Connector 135"/>
          <p:cNvCxnSpPr/>
          <p:nvPr/>
        </p:nvCxnSpPr>
        <p:spPr>
          <a:xfrm>
            <a:off x="5681532" y="5226317"/>
            <a:ext cx="0" cy="156728"/>
          </a:xfrm>
          <a:prstGeom prst="line">
            <a:avLst/>
          </a:prstGeom>
          <a:ln w="13060">
            <a:solidFill>
              <a:srgbClr val="2F3A45"/>
            </a:solidFill>
            <a:tailEnd type="triangle" w="med" len="med"/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7123432" y="2123099"/>
            <a:ext cx="1230316" cy="0"/>
          </a:xfrm>
          <a:prstGeom prst="line">
            <a:avLst/>
          </a:prstGeom>
          <a:ln w="13060">
            <a:solidFill>
              <a:srgbClr val="2F3A45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38" name="Connector 137"/>
          <p:cNvCxnSpPr/>
          <p:nvPr/>
        </p:nvCxnSpPr>
        <p:spPr>
          <a:xfrm>
            <a:off x="9435172" y="1699933"/>
            <a:ext cx="0" cy="250765"/>
          </a:xfrm>
          <a:prstGeom prst="line">
            <a:avLst/>
          </a:prstGeom>
          <a:ln w="13060">
            <a:solidFill>
              <a:srgbClr val="2F3A45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9435172" y="2514920"/>
            <a:ext cx="0" cy="219419"/>
          </a:xfrm>
          <a:prstGeom prst="line">
            <a:avLst/>
          </a:prstGeom>
          <a:ln w="13060">
            <a:solidFill>
              <a:srgbClr val="C9CDD2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9435172" y="3345579"/>
            <a:ext cx="0" cy="94037"/>
          </a:xfrm>
          <a:prstGeom prst="line">
            <a:avLst/>
          </a:prstGeom>
          <a:ln w="13060">
            <a:solidFill>
              <a:srgbClr val="C9CDD2"/>
            </a:solidFill>
            <a:tailEnd type="triangle" w="med" len="med"/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10124776" y="4936370"/>
            <a:ext cx="0" cy="509366"/>
          </a:xfrm>
          <a:prstGeom prst="line">
            <a:avLst/>
          </a:prstGeom>
          <a:ln w="13060">
            <a:solidFill>
              <a:srgbClr val="2F3A45"/>
            </a:solidFill>
            <a:tailEnd type="triangle" w="med" len="med"/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6261427" y="3925473"/>
            <a:ext cx="0" cy="78364"/>
          </a:xfrm>
          <a:prstGeom prst="line">
            <a:avLst/>
          </a:prstGeom>
          <a:ln w="13060">
            <a:solidFill>
              <a:srgbClr val="2F3A45"/>
            </a:solidFill>
            <a:tailEnd type="triangle" w="med" len="med"/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6809975" y="5688665"/>
            <a:ext cx="329129" cy="0"/>
          </a:xfrm>
          <a:prstGeom prst="line">
            <a:avLst/>
          </a:prstGeom>
          <a:ln w="13060">
            <a:solidFill>
              <a:srgbClr val="2F3A45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44" name="Connector 143"/>
          <p:cNvCxnSpPr/>
          <p:nvPr/>
        </p:nvCxnSpPr>
        <p:spPr>
          <a:xfrm>
            <a:off x="8816096" y="5688665"/>
            <a:ext cx="297783" cy="0"/>
          </a:xfrm>
          <a:prstGeom prst="line">
            <a:avLst/>
          </a:prstGeom>
          <a:ln w="13060">
            <a:solidFill>
              <a:srgbClr val="2F3A45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45" name="Connector 144"/>
          <p:cNvCxnSpPr/>
          <p:nvPr/>
        </p:nvCxnSpPr>
        <p:spPr>
          <a:xfrm flipV="1">
            <a:off x="2272695" y="3729563"/>
            <a:ext cx="0" cy="242928"/>
          </a:xfrm>
          <a:prstGeom prst="line">
            <a:avLst/>
          </a:prstGeom>
          <a:ln w="13060">
            <a:solidFill>
              <a:srgbClr val="C9CDD2"/>
            </a:solidFill>
            <a:tailEnd type="triangle" w="med" len="med"/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1410690" y="4983388"/>
            <a:ext cx="0" cy="219419"/>
          </a:xfrm>
          <a:prstGeom prst="line">
            <a:avLst/>
          </a:prstGeom>
          <a:ln w="13060">
            <a:solidFill>
              <a:srgbClr val="C9CDD2"/>
            </a:solidFill>
            <a:tailEnd type="triangle" w="med" len="med"/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7773853" y="4309457"/>
            <a:ext cx="250765" cy="0"/>
          </a:xfrm>
          <a:prstGeom prst="line">
            <a:avLst/>
          </a:prstGeom>
          <a:ln w="21767">
            <a:solidFill>
              <a:srgbClr val="FF0000"/>
            </a:solidFill>
            <a:tailEnd type="triangle" w="med" len="med"/>
          </a:ln>
          <a:effectLst/>
        </p:spPr>
      </p:cxnSp>
      <p:grpSp>
        <p:nvGrpSpPr>
          <p:cNvPr id="154" name="Group 153"/>
          <p:cNvGrpSpPr/>
          <p:nvPr/>
        </p:nvGrpSpPr>
        <p:grpSpPr>
          <a:xfrm>
            <a:off x="948342" y="6080485"/>
            <a:ext cx="10250021" cy="297783"/>
            <a:chOff x="948342" y="6080485"/>
            <a:chExt cx="10250021" cy="297783"/>
          </a:xfrm>
        </p:grpSpPr>
        <p:sp>
          <p:nvSpPr>
            <p:cNvPr id="148" name="Rounded Rectangle 147"/>
            <p:cNvSpPr/>
            <p:nvPr/>
          </p:nvSpPr>
          <p:spPr>
            <a:xfrm>
              <a:off x="948342" y="6080485"/>
              <a:ext cx="10250021" cy="297783"/>
            </a:xfrm>
            <a:prstGeom prst="roundRect">
              <a:avLst>
                <a:gd name="adj" fmla="val 6000"/>
              </a:avLst>
            </a:prstGeom>
            <a:solidFill>
              <a:srgbClr val="1C1F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391099" y="6127504"/>
              <a:ext cx="1880737" cy="20374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814" b="1" i="0">
                  <a:solidFill>
                    <a:srgbClr val="FFFFFF"/>
                  </a:solidFill>
                  <a:latin typeface="Segoe UI"/>
                </a:rPr>
                <a:t>Security &amp; Compliance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3119027" y="6127504"/>
              <a:ext cx="1880737" cy="20374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814" b="1" i="0">
                  <a:solidFill>
                    <a:srgbClr val="FFFFFF"/>
                  </a:solidFill>
                  <a:latin typeface="Segoe UI"/>
                </a:rPr>
                <a:t>Audit Logs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4921401" y="6127504"/>
              <a:ext cx="1880737" cy="20374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814" b="1" i="0">
                  <a:solidFill>
                    <a:srgbClr val="FFFFFF"/>
                  </a:solidFill>
                  <a:latin typeface="Segoe UI"/>
                </a:rPr>
                <a:t>RBAC &amp; SSO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6907930" y="6127504"/>
              <a:ext cx="1880737" cy="20374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814" b="1" i="0">
                  <a:solidFill>
                    <a:srgbClr val="FFFFFF"/>
                  </a:solidFill>
                  <a:latin typeface="Segoe UI"/>
                </a:rPr>
                <a:t>Monitoring &amp; Alerts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9192243" y="6127504"/>
              <a:ext cx="1880737" cy="20374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sz="814" b="1" i="0">
                  <a:solidFill>
                    <a:srgbClr val="FFFFFF"/>
                  </a:solidFill>
                  <a:latin typeface="Segoe UI"/>
                </a:rPr>
                <a:t>Model Governance</a:t>
              </a:r>
            </a:p>
          </p:txBody>
        </p:sp>
      </p:grpSp>
      <p:sp>
        <p:nvSpPr>
          <p:cNvPr id="155" name="TextBox 154"/>
          <p:cNvSpPr txBox="1"/>
          <p:nvPr/>
        </p:nvSpPr>
        <p:spPr>
          <a:xfrm>
            <a:off x="502920" y="914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303C46"/>
                </a:solidFill>
                <a:latin typeface="Segoe UI"/>
              </a:rPr>
              <a:t>Target Architecture — Intelligence Layer components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Internal Model Migration — CDAO update · 31 Jul 2026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607040" y="6419088"/>
            <a:ext cx="1078992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 dirty="0">
                <a:solidFill>
                  <a:srgbClr val="64748B"/>
                </a:solidFill>
                <a:latin typeface="Segoe U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303C46"/>
                </a:solidFill>
                <a:latin typeface="Segoe UI"/>
              </a:rPr>
              <a:t>How the code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What a migrating application actually does differently — same business logic, new plumbing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73152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64748B"/>
                </a:solidFill>
                <a:latin typeface="Segoe UI"/>
              </a:rPr>
              <a:t>Internal Model Migratio</a:t>
            </a:r>
            <a:r>
              <a:rPr lang="en-US" sz="850" b="0" i="0" dirty="0">
                <a:solidFill>
                  <a:srgbClr val="64748B"/>
                </a:solidFill>
                <a:latin typeface="Segoe UI"/>
              </a:rPr>
              <a:t>n</a:t>
            </a:r>
            <a:endParaRPr sz="850" b="0" i="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078992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 dirty="0">
                <a:solidFill>
                  <a:srgbClr val="64748B"/>
                </a:solidFill>
                <a:latin typeface="Segoe UI"/>
              </a:rPr>
              <a:t>5 / 10</a:t>
            </a:r>
            <a:endParaRPr sz="850" b="0" i="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3112" cy="310896"/>
          </a:xfrm>
          <a:prstGeom prst="rect">
            <a:avLst/>
          </a:prstGeom>
          <a:solidFill>
            <a:srgbClr val="303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417320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1417320"/>
            <a:ext cx="360273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Today — on Google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6752" y="1417320"/>
            <a:ext cx="55961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Tomorrow — internal GPU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64208"/>
            <a:ext cx="11183112" cy="548640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1714500"/>
            <a:ext cx="1545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Model call
(voice apps)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1714500"/>
            <a:ext cx="3602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One Gemini call — audio + prompt in, structured JSON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1714500"/>
            <a:ext cx="55961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Two calls: transcribe (ASR pool) → analyse text (LLM pool). No open model under ~10B does audio + reasoning in one shot — a Thai transcript becomes a real intermediate artefact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12848"/>
            <a:ext cx="1118311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" y="2263140"/>
            <a:ext cx="1545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Batch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2263140"/>
            <a:ext cx="3602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Gemini Batch API — build JSONL → GCS → submit job → poll → 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2263140"/>
            <a:ext cx="55961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Our own batch orchestrator (submit · track · poll · assemble). vLLM has no batch-job API, so this is the part of Google we stop getting for free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761488"/>
            <a:ext cx="11183112" cy="548640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" y="2811780"/>
            <a:ext cx="1545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Model addressing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2811780"/>
            <a:ext cx="3602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Model name hard-coded / from env var, called directly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2811780"/>
            <a:ext cx="55961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Apps call a capability — transcribe, analyse_text, analyse_image, extract_document. The router resolves capability + app → pool → backend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310128"/>
            <a:ext cx="1118311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072" y="3360420"/>
            <a:ext cx="1545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File staging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3360420"/>
            <a:ext cx="3602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GCS, staged from SharePoint — except RTR Fraud, whose shop images come from AWS S3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3360420"/>
            <a:ext cx="55961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Internal object store — technology TBD (Swift or Ceph RGW; not MinIO). RTR's existing S3 dependency is not yet covered by this plan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858768"/>
            <a:ext cx="11183112" cy="548640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" y="3909059"/>
            <a:ext cx="1545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Jobs &amp; scheduling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7712" y="3909059"/>
            <a:ext cx="3602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Cloud Run Jobs + Cloud Scheduler everywhere; Terraform only in the voice-analysis repo — the other three deploy imperatively via gcloud in Cloud 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2" y="3909059"/>
            <a:ext cx="55961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Internal API, then broker + workers — RabbitMQ and PostgreSQL recommended at the 31 Jul review, not yet decided (the same review preferred AWS EKS over new on-prem — unreconciled). Whether orchestration migrates at all is an open scope question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407407"/>
            <a:ext cx="1118311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2" y="4457699"/>
            <a:ext cx="1545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Secrets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67712" y="4457699"/>
            <a:ext cx="3602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GCP Secret 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4457699"/>
            <a:ext cx="55961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Internal secret store — TBD, no document names one yet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2120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5321808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E00000"/>
                </a:solidFill>
                <a:latin typeface="Segoe UI"/>
              </a:rPr>
              <a:t>TWO RISKS FOUND IN THE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541264"/>
            <a:ext cx="5120640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 dirty="0">
                <a:solidFill>
                  <a:srgbClr val="374151"/>
                </a:solidFill>
                <a:latin typeface="Segoe UI"/>
              </a:rPr>
              <a:t>Structured output — three apps ask Gemini for strict JSON</a:t>
            </a:r>
            <a:endParaRPr lang="en-US" sz="900" b="0" i="0" dirty="0">
              <a:solidFill>
                <a:srgbClr val="374151"/>
              </a:solidFill>
              <a:latin typeface="Segoe UI"/>
            </a:endParaRPr>
          </a:p>
          <a:p>
            <a:pPr algn="l">
              <a:spcAft>
                <a:spcPts val="300"/>
              </a:spcAft>
            </a:pPr>
            <a:r>
              <a:rPr sz="900" b="0" i="0" dirty="0">
                <a:solidFill>
                  <a:srgbClr val="374151"/>
                </a:solidFill>
                <a:latin typeface="Segoe UI"/>
              </a:rPr>
              <a:t>Sentiment QA</a:t>
            </a:r>
            <a:r>
              <a:rPr lang="en-US" sz="900" b="0" i="0" dirty="0">
                <a:solidFill>
                  <a:srgbClr val="374151"/>
                </a:solidFill>
                <a:latin typeface="Segoe UI"/>
              </a:rPr>
              <a:t> scoring runs on reasoning mode</a:t>
            </a:r>
            <a:endParaRPr sz="900" b="0" i="0" dirty="0">
              <a:solidFill>
                <a:srgbClr val="374151"/>
              </a:solidFill>
              <a:latin typeface="Segoe U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199632" y="52120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82512" y="5321808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007AD0"/>
                </a:solidFill>
                <a:latin typeface="Segoe UI"/>
              </a:rPr>
              <a:t>NOT EVERY APP IS THE SAME JOB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5541264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 dirty="0">
                <a:solidFill>
                  <a:srgbClr val="374151"/>
                </a:solidFill>
                <a:latin typeface="Segoe UI"/>
              </a:rPr>
              <a:t>RTR Fraud already calls the model synchronously — no batch abstraction to rebuild, so it is the cheapest Wave 1 migration.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303C46"/>
                </a:solidFill>
                <a:latin typeface="Segoe UI"/>
              </a:rPr>
              <a:t>What the AI team builds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The GPU is provided. Everything between the application and the GPU is ours to build and run — each maps to a component on the Intelligence Layer slide (page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73152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64748B"/>
                </a:solidFill>
                <a:latin typeface="Segoe UI"/>
              </a:rPr>
              <a:t>Internal Model Migratio</a:t>
            </a:r>
            <a:r>
              <a:rPr lang="en-US" sz="850" b="0" i="0" dirty="0">
                <a:solidFill>
                  <a:srgbClr val="64748B"/>
                </a:solidFill>
                <a:latin typeface="Segoe UI"/>
              </a:rPr>
              <a:t>n</a:t>
            </a:r>
            <a:endParaRPr sz="850" b="0" i="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078992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 dirty="0">
                <a:solidFill>
                  <a:srgbClr val="64748B"/>
                </a:solidFill>
                <a:latin typeface="Segoe UI"/>
              </a:rPr>
              <a:t>6 / 10</a:t>
            </a:r>
            <a:endParaRPr sz="850" b="0" i="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316736"/>
            <a:ext cx="11183112" cy="329184"/>
          </a:xfrm>
          <a:prstGeom prst="rect">
            <a:avLst/>
          </a:prstGeom>
          <a:solidFill>
            <a:srgbClr val="303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380744"/>
            <a:ext cx="22311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3512" y="1380744"/>
            <a:ext cx="127101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 dirty="0">
                <a:solidFill>
                  <a:srgbClr val="FFFFFF"/>
                </a:solidFill>
                <a:latin typeface="Segoe UI"/>
              </a:rPr>
              <a:t>Who owns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1380744"/>
            <a:ext cx="447141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88552" y="1380744"/>
            <a:ext cx="262432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Intelligence Layer component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45919"/>
            <a:ext cx="11183112" cy="320040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1696211"/>
            <a:ext cx="22311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374151"/>
                </a:solidFill>
                <a:latin typeface="Segoe UI"/>
              </a:rPr>
              <a:t>Internal AI SDK / capability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1696211"/>
            <a:ext cx="1271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AI team — 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1696211"/>
            <a:ext cx="44714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The key abstraction: apps import this and nothing else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1696211"/>
            <a:ext cx="26243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374151"/>
                </a:solidFill>
                <a:latin typeface="Segoe UI"/>
              </a:rPr>
              <a:t>AI Services Layer →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965960"/>
            <a:ext cx="111831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072" y="2016252"/>
            <a:ext cx="22311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374151"/>
                </a:solidFill>
                <a:latin typeface="Segoe UI"/>
              </a:rPr>
              <a:t>Batch orchestrator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2016252"/>
            <a:ext cx="1271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AI team — 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2016252"/>
            <a:ext cx="44714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Replaces the Gemini Batch API: submit, track, poll, assemble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016252"/>
            <a:ext cx="26243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AI Services Layer → Workflows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286000"/>
            <a:ext cx="11183112" cy="320040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" y="2336292"/>
            <a:ext cx="22311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374151"/>
                </a:solidFill>
                <a:latin typeface="Segoe UI"/>
              </a:rPr>
              <a:t>Capability 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3512" y="2336292"/>
            <a:ext cx="1271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AI team — NEW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2336292"/>
            <a:ext cx="44714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Capability + app → pool → backend. Where fallback and migration state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336292"/>
            <a:ext cx="26243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AI Orchestrator → Routing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606040"/>
            <a:ext cx="111831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" y="2656332"/>
            <a:ext cx="22311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374151"/>
                </a:solidFill>
                <a:latin typeface="Segoe UI"/>
              </a:rPr>
              <a:t>Internal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53512" y="2656332"/>
            <a:ext cx="1271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AI team — 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2656332"/>
            <a:ext cx="44714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Job submit / job id / poll — a separate component from the broker (31 Jul review)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88552" y="2656332"/>
            <a:ext cx="2624327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850" b="0" i="0" dirty="0">
                <a:solidFill>
                  <a:srgbClr val="374151"/>
                </a:solidFill>
                <a:latin typeface="Segoe UI"/>
              </a:rPr>
              <a:t>AI Service Layer </a:t>
            </a:r>
            <a:r>
              <a:rPr sz="850" b="0" i="0" dirty="0">
                <a:solidFill>
                  <a:srgbClr val="374151"/>
                </a:solidFill>
                <a:latin typeface="Segoe UI"/>
              </a:rPr>
              <a:t>→ Internal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926080"/>
            <a:ext cx="11183112" cy="320040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6072" y="2976372"/>
            <a:ext cx="22311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374151"/>
                </a:solidFill>
                <a:latin typeface="Segoe UI"/>
              </a:rPr>
              <a:t>Message broker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53512" y="2976372"/>
            <a:ext cx="1271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AI team — NEW*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2976372"/>
            <a:ext cx="44714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RabbitMQ (31 Jul review): work queues, dead-letter queue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88552" y="2976372"/>
            <a:ext cx="2624327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850" b="0" i="0" dirty="0">
                <a:solidFill>
                  <a:srgbClr val="374151"/>
                </a:solidFill>
                <a:latin typeface="Segoe UI"/>
              </a:rPr>
              <a:t>AI Service Layer </a:t>
            </a:r>
            <a:r>
              <a:rPr sz="850" b="0" i="0" dirty="0">
                <a:solidFill>
                  <a:srgbClr val="374151"/>
                </a:solidFill>
                <a:latin typeface="Segoe UI"/>
              </a:rPr>
              <a:t>→ Broker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246120"/>
            <a:ext cx="111831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6072" y="3296412"/>
            <a:ext cx="22311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374151"/>
                </a:solidFill>
                <a:latin typeface="Segoe UI"/>
              </a:rPr>
              <a:t>CPU workers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53512" y="3296412"/>
            <a:ext cx="1271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AI team — NEW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3296412"/>
            <a:ext cx="44714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Decode · resample · resize · page-split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88552" y="3296412"/>
            <a:ext cx="2624327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850" b="0" i="0" dirty="0">
                <a:solidFill>
                  <a:srgbClr val="374151"/>
                </a:solidFill>
                <a:latin typeface="Segoe UI"/>
              </a:rPr>
              <a:t>AI Service Layer </a:t>
            </a:r>
            <a:r>
              <a:rPr sz="850" b="0" i="0" dirty="0">
                <a:solidFill>
                  <a:srgbClr val="374151"/>
                </a:solidFill>
                <a:latin typeface="Segoe UI"/>
              </a:rPr>
              <a:t>→ Workers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566160"/>
            <a:ext cx="11183112" cy="320040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6072" y="3616452"/>
            <a:ext cx="22311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374151"/>
                </a:solidFill>
                <a:latin typeface="Segoe UI"/>
              </a:rPr>
              <a:t>Object storage + job state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53512" y="3616452"/>
            <a:ext cx="1271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AI team — NEW*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0832" y="3616452"/>
            <a:ext cx="44714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Files and results; PostgreSQL job state doubles as the PDPA audit record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88552" y="3616452"/>
            <a:ext cx="2624327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374151"/>
                </a:solidFill>
                <a:latin typeface="Segoe UI"/>
              </a:rPr>
              <a:t>Object store + Job state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886200"/>
            <a:ext cx="111831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76072" y="3936491"/>
            <a:ext cx="22311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374151"/>
                </a:solidFill>
                <a:latin typeface="Segoe UI"/>
              </a:rPr>
              <a:t>Observability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53512" y="3936491"/>
            <a:ext cx="1271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AI team — NEW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70832" y="3936491"/>
            <a:ext cx="44714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Langfuse / Prometheus / Grafana, emitting into the RAI monitoring contract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88552" y="3936491"/>
            <a:ext cx="26243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AI Orchestrator → Observability &amp; Logging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206240"/>
            <a:ext cx="11183112" cy="320040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76072" y="4256531"/>
            <a:ext cx="22311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374151"/>
                </a:solidFill>
                <a:latin typeface="Segoe UI"/>
              </a:rPr>
              <a:t>Model serving — vision, speech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53512" y="4256531"/>
            <a:ext cx="1271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AI team, on GPUaaS / local GPU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70832" y="4256531"/>
            <a:ext cx="44714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We deploy and own quality — no ASR in the Token Factory catalogue as of late July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88552" y="4256531"/>
            <a:ext cx="26243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Foundational Models → ASR pool (dashed)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4526279"/>
            <a:ext cx="111831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76072" y="4576571"/>
            <a:ext cx="22311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374151"/>
                </a:solidFill>
                <a:latin typeface="Segoe UI"/>
              </a:rPr>
              <a:t>Model serving — text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53512" y="4576571"/>
            <a:ext cx="1271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Token Factory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70832" y="4576571"/>
            <a:ext cx="44714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MaaS, per token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88552" y="4576571"/>
            <a:ext cx="26243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Foundational Models → LLM pool + Gateway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846319"/>
            <a:ext cx="11183112" cy="320040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6072" y="4896611"/>
            <a:ext cx="22311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374151"/>
                </a:solidFill>
                <a:latin typeface="Segoe UI"/>
              </a:rPr>
              <a:t>GPU, OS, network, security baseline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53512" y="4896611"/>
            <a:ext cx="1271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Infra / Token Factory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70832" y="4896611"/>
            <a:ext cx="44714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988552" y="4896611"/>
            <a:ext cx="26243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Foundational Models tier + security band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166359"/>
            <a:ext cx="111831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76072" y="5216651"/>
            <a:ext cx="22311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374151"/>
                </a:solidFill>
                <a:latin typeface="Segoe UI"/>
              </a:rPr>
              <a:t>RAI monitoring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53512" y="5216651"/>
            <a:ext cx="1271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RAI project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70832" y="5216651"/>
            <a:ext cx="44714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Separate project — meets us at the telemetry wrapper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5216651"/>
            <a:ext cx="26243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74151"/>
                </a:solidFill>
                <a:latin typeface="Segoe UI"/>
              </a:rPr>
              <a:t>Security band → Monitoring &amp; Model Governance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5532119"/>
            <a:ext cx="11183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1">
                <a:solidFill>
                  <a:srgbClr val="64748B"/>
                </a:solidFill>
                <a:latin typeface="Segoe UI"/>
              </a:rPr>
              <a:t>*  Broker, object storage and job state are marked NEW pending confirmation Infra doesn't already run an equivalent.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5760719"/>
            <a:ext cx="11183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374151"/>
                </a:solidFill>
                <a:latin typeface="Segoe UI"/>
              </a:rPr>
              <a:t>The ask:  </a:t>
            </a:r>
            <a:r>
              <a:rPr sz="900" b="0" i="0">
                <a:solidFill>
                  <a:srgbClr val="374151"/>
                </a:solidFill>
                <a:latin typeface="Segoe UI"/>
              </a:rPr>
              <a:t>Eight new components, built and operated by the AI team — this is the work that turns a GPU allocation into a migration, not something delivered by the GPU itself.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Open for this meeting:  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does scope include the compute running the models, not just the models themselves — and which substrate (Token Factory, OpenStack, or AWS EKS, recommended 31 Jul)?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5DDBE-40C1-F435-1242-0CC47CF5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CFE154-B922-EAF0-3B88-1F1AE8639C0A}"/>
              </a:ext>
            </a:extLst>
          </p:cNvPr>
          <p:cNvSpPr txBox="1"/>
          <p:nvPr/>
        </p:nvSpPr>
        <p:spPr>
          <a:xfrm>
            <a:off x="0" y="2336673"/>
            <a:ext cx="121920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600" b="1" i="0" dirty="0">
                <a:solidFill>
                  <a:srgbClr val="303C46"/>
                </a:solidFill>
                <a:latin typeface="Segoe UI"/>
              </a:rPr>
              <a:t>Appendix</a:t>
            </a:r>
            <a:endParaRPr sz="2600" b="1" i="0" dirty="0">
              <a:solidFill>
                <a:srgbClr val="303C46"/>
              </a:solidFill>
              <a:latin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E25602-23E7-8138-B60E-61382F98ABA9}"/>
              </a:ext>
            </a:extLst>
          </p:cNvPr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64748B"/>
                </a:solidFill>
                <a:latin typeface="Segoe UI"/>
              </a:rPr>
              <a:t>Internal Model Migratio</a:t>
            </a:r>
            <a:r>
              <a:rPr lang="en-US" sz="850" b="0" i="0" dirty="0">
                <a:solidFill>
                  <a:srgbClr val="64748B"/>
                </a:solidFill>
                <a:latin typeface="Segoe UI"/>
              </a:rPr>
              <a:t>n</a:t>
            </a:r>
            <a:r>
              <a:rPr lang="nb-NO" sz="850" b="0" i="0" dirty="0">
                <a:solidFill>
                  <a:srgbClr val="64748B"/>
                </a:solidFill>
                <a:latin typeface="Segoe UI"/>
              </a:rPr>
              <a:t> — CDAO update · 31 Jul 2026</a:t>
            </a:r>
            <a:endParaRPr sz="850" b="0" i="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E7892C-7E54-4B1F-DA6D-18C9FDF21898}"/>
              </a:ext>
            </a:extLst>
          </p:cNvPr>
          <p:cNvSpPr txBox="1"/>
          <p:nvPr/>
        </p:nvSpPr>
        <p:spPr>
          <a:xfrm>
            <a:off x="10607040" y="6419088"/>
            <a:ext cx="1078992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en-US" sz="850" b="0" i="0" dirty="0">
                <a:solidFill>
                  <a:srgbClr val="64748B"/>
                </a:solidFill>
                <a:latin typeface="Segoe UI"/>
              </a:rPr>
              <a:t>9 / 10</a:t>
            </a:r>
            <a:endParaRPr sz="850" b="0" i="0" dirty="0">
              <a:solidFill>
                <a:srgbClr val="64748B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35108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303C46"/>
                </a:solidFill>
                <a:latin typeface="Segoe UI"/>
              </a:rPr>
              <a:t>Detailed flow — batch and real-time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Expanded view of the application side: how a job travels from an app to a model and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73152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64748B"/>
                </a:solidFill>
                <a:latin typeface="Segoe UI"/>
              </a:rPr>
              <a:t>Internal Model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078992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en-US" sz="850" dirty="0">
                <a:solidFill>
                  <a:srgbClr val="64748B"/>
                </a:solidFill>
                <a:latin typeface="Segoe UI"/>
              </a:rPr>
              <a:t>10 / 10</a:t>
            </a:r>
            <a:endParaRPr sz="850" b="0" i="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E00000"/>
                </a:solidFill>
                <a:latin typeface="Segoe UI"/>
              </a:rPr>
              <a:t>BATCH — every app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64208"/>
            <a:ext cx="253517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" y="1792224"/>
            <a:ext cx="227914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303C46"/>
                </a:solidFill>
                <a:latin typeface="Segoe UI"/>
              </a:rPr>
              <a:t>Batch apps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CX voice · docs ·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6382" y="19202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5565" y="1664208"/>
            <a:ext cx="253517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3582" y="1792224"/>
            <a:ext cx="227914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303C46"/>
                </a:solidFill>
                <a:latin typeface="Segoe UI"/>
              </a:rPr>
              <a:t>Internal API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submit job · job id · poll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9027" y="19202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8212" y="1664208"/>
            <a:ext cx="253517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96227" y="1792224"/>
            <a:ext cx="227914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303C46"/>
                </a:solidFill>
                <a:latin typeface="Segoe UI"/>
              </a:rPr>
              <a:t>Message broker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queues · dead-letter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1674" y="19202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50858" y="1664208"/>
            <a:ext cx="253517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78874" y="1792224"/>
            <a:ext cx="227914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303C46"/>
                </a:solidFill>
                <a:latin typeface="Segoe UI"/>
              </a:rPr>
              <a:t>Workers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decode · retry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7004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007AD0"/>
                </a:solidFill>
                <a:latin typeface="Segoe UI"/>
              </a:rPr>
              <a:t>REAL-TIME — future interactive use cases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962656"/>
            <a:ext cx="253517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" y="3127248"/>
            <a:ext cx="227914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303C46"/>
                </a:solidFill>
                <a:latin typeface="Segoe UI"/>
              </a:rPr>
              <a:t>Real-time apps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HTTPS — synchronous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6382" y="312724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2761488"/>
            <a:ext cx="2487168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303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65576" y="2907792"/>
            <a:ext cx="223113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303C46"/>
                </a:solidFill>
                <a:latin typeface="Segoe UI"/>
              </a:rPr>
              <a:t>Gateway + router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one entry point · auth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capability → pool → 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61304" y="312724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615184"/>
            <a:ext cx="5513832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274320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E00000"/>
                </a:solidFill>
                <a:latin typeface="Segoe UI"/>
              </a:rPr>
              <a:t>Token Factory — sovereign GPU, True's DC · 1× NVIDIA H100 NVL · ~94 GB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072384"/>
            <a:ext cx="1627632" cy="731520"/>
          </a:xfrm>
          <a:prstGeom prst="roundRect">
            <a:avLst>
              <a:gd name="adj" fmla="val 6000"/>
            </a:avLst>
          </a:prstGeom>
          <a:solidFill>
            <a:srgbClr val="F9F9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3182112"/>
            <a:ext cx="14447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303C46"/>
                </a:solidFill>
                <a:latin typeface="Segoe UI"/>
              </a:rPr>
              <a:t>ASR pool</a:t>
            </a:r>
          </a:p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4748B"/>
                </a:solidFill>
                <a:latin typeface="Segoe UI"/>
              </a:rPr>
              <a:t>Qwen3-ASR-1.7B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0728" y="3072384"/>
            <a:ext cx="1627632" cy="731520"/>
          </a:xfrm>
          <a:prstGeom prst="roundRect">
            <a:avLst>
              <a:gd name="adj" fmla="val 6000"/>
            </a:avLst>
          </a:prstGeom>
          <a:solidFill>
            <a:srgbClr val="F9F9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02168" y="3182112"/>
            <a:ext cx="14447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303C46"/>
                </a:solidFill>
                <a:latin typeface="Segoe UI"/>
              </a:rPr>
              <a:t>LLM pool</a:t>
            </a:r>
          </a:p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4748B"/>
                </a:solidFill>
                <a:latin typeface="Segoe UI"/>
              </a:rPr>
              <a:t>Qwen3.6-27B · Gemma-4-12B-it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66376" y="3072384"/>
            <a:ext cx="1627632" cy="731520"/>
          </a:xfrm>
          <a:prstGeom prst="roundRect">
            <a:avLst>
              <a:gd name="adj" fmla="val 6000"/>
            </a:avLst>
          </a:prstGeom>
          <a:solidFill>
            <a:srgbClr val="F9F9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57815" y="3182112"/>
            <a:ext cx="14447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303C46"/>
                </a:solidFill>
                <a:latin typeface="Segoe UI"/>
              </a:rPr>
              <a:t>Vision pool</a:t>
            </a:r>
          </a:p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4748B"/>
                </a:solidFill>
                <a:latin typeface="Segoe UI"/>
              </a:rPr>
              <a:t>later waves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98405" y="243230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64748B"/>
                </a:solidFill>
                <a:latin typeface="Segoe UI"/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376732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E5C24"/>
                </a:solidFill>
                <a:latin typeface="Segoe UI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3986784"/>
            <a:ext cx="248716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5C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65576" y="4096512"/>
            <a:ext cx="223113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0E5C24"/>
                </a:solidFill>
                <a:latin typeface="Segoe UI"/>
              </a:rPr>
              <a:t>Fallback — internal 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a second local open-source model, per app, until the gate is passed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56048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508406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64748B"/>
                </a:solidFill>
                <a:latin typeface="Segoe UI"/>
              </a:rPr>
              <a:t>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19" y="508406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374151"/>
                </a:solidFill>
                <a:latin typeface="Segoe UI"/>
              </a:rPr>
              <a:t>Object store — files · transcripts · results   ·   Cache — idempotency   ·   PostgreSQL — job state and audit trail (the PDPA record)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614416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BE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" y="574243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303C46"/>
                </a:solidFill>
                <a:latin typeface="Segoe UI"/>
              </a:rPr>
              <a:t>TELEMETRY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74519" y="574243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303C46"/>
                </a:solidFill>
                <a:latin typeface="Segoe UI"/>
              </a:rPr>
              <a:t>Every component emits — metrics and model observability into the RAI monitoring contract approved by the AI Council on 21 Jul.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4444" y="6217920"/>
            <a:ext cx="11183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1">
                <a:solidFill>
                  <a:srgbClr val="64748B"/>
                </a:solidFill>
                <a:latin typeface="Segoe UI"/>
              </a:rPr>
              <a:t>Tools shown are roles, not final product choices — object store, broker and secrets are still open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303C46"/>
                </a:solidFill>
                <a:latin typeface="Segoe UI"/>
              </a:rPr>
              <a:t>Benchmark results —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Six production use cases scored on the same items — Gemini (2.5 Flash; 3.1 Pro on Tax-Invoice) against Qwen3.8-27B-FP8 on the internal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73152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Internal Model Migration — benchmark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07899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2706624" cy="676656"/>
          </a:xfrm>
          <a:prstGeom prst="roundRect">
            <a:avLst>
              <a:gd name="adj" fmla="val 6000"/>
            </a:avLst>
          </a:prstGeom>
          <a:solidFill>
            <a:srgbClr val="BE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38074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2C2454"/>
                </a:solidFill>
                <a:latin typeface="Segoe UI"/>
              </a:rPr>
              <a:t>97.4%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6367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8A8A8A"/>
                </a:solidFill>
                <a:latin typeface="Segoe UI"/>
              </a:rPr>
              <a:t>of production quality — mean of the six F1 headlines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8415" y="1298448"/>
            <a:ext cx="2706624" cy="676656"/>
          </a:xfrm>
          <a:prstGeom prst="roundRect">
            <a:avLst>
              <a:gd name="adj" fmla="val 6000"/>
            </a:avLst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138074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303C46"/>
                </a:solidFill>
                <a:latin typeface="Segoe UI"/>
              </a:rPr>
              <a:t>99.2%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16367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8A8A8A"/>
                </a:solidFill>
                <a:latin typeface="Segoe UI"/>
              </a:rPr>
              <a:t>where no speech stage runs — 2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298448"/>
            <a:ext cx="2706624" cy="676656"/>
          </a:xfrm>
          <a:prstGeom prst="roundRect">
            <a:avLst>
              <a:gd name="adj" fmla="val 6000"/>
            </a:avLst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3" y="138074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303C46"/>
                </a:solidFill>
                <a:latin typeface="Segoe UI"/>
              </a:rPr>
              <a:t>96.4%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3" y="16367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8A8A8A"/>
                </a:solidFill>
                <a:latin typeface="Segoe UI"/>
              </a:rPr>
              <a:t>where speech-to-text runs first — 4 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9408" y="1298448"/>
            <a:ext cx="2706624" cy="676656"/>
          </a:xfrm>
          <a:prstGeom prst="roundRect">
            <a:avLst>
              <a:gd name="adj" fmla="val 6000"/>
            </a:avLst>
          </a:prstGeom>
          <a:solidFill>
            <a:srgbClr val="FFF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38074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8A5E00"/>
                </a:solidFill>
                <a:latin typeface="Segoe UI"/>
              </a:rPr>
              <a:t>2 of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6367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8A8A8A"/>
                </a:solidFill>
                <a:latin typeface="Segoe UI"/>
              </a:rPr>
              <a:t>tasks where internal leads — both are parity, not wins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48840"/>
            <a:ext cx="11183112" cy="310896"/>
          </a:xfrm>
          <a:prstGeom prst="rect">
            <a:avLst/>
          </a:prstGeom>
          <a:solidFill>
            <a:srgbClr val="303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21284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Use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212848"/>
            <a:ext cx="1709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Gemini — 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212848"/>
            <a:ext cx="1709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Qwen3.8 — 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212848"/>
            <a:ext cx="189280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Gemini —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212848"/>
            <a:ext cx="202996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Qwen3.8 — Accuracy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459736"/>
            <a:ext cx="1118311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2505456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RTR-Fraud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2505456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0.9877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2505456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0.9923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505456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0.9882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505456"/>
            <a:ext cx="202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0.9928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734056"/>
            <a:ext cx="11183112" cy="274320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2779775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Tax-Invoice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2779775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0.9992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2779775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0.9791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2779775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0.9986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2779775"/>
            <a:ext cx="202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0.9723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008375"/>
            <a:ext cx="1118311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3054095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Sentiment QA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3054095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0.8591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3054095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0.8304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3054095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0.6899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3054095"/>
            <a:ext cx="202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0.6583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282695"/>
            <a:ext cx="11183112" cy="274320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" y="3328415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Sentiment MNP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3328415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0.8564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3328415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0.8237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3328415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0.9266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3328415"/>
            <a:ext cx="202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0.9005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557015"/>
            <a:ext cx="1118311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" y="3602735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Sentiment Telesale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3602735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0.9272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23560" y="3602735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0.9352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3602735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0.9126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3602735"/>
            <a:ext cx="202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0.9282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3831335"/>
            <a:ext cx="11183112" cy="274320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2" y="3877055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Sentiment Retention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49039" y="3877055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0.8831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23560" y="3877055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0.8082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3877055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0.9183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3877055"/>
            <a:ext cx="202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0.8864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4105655"/>
            <a:ext cx="1118311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6072" y="4151375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Mean of 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49039" y="4151375"/>
            <a:ext cx="1709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0.9188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23560" y="4151375"/>
            <a:ext cx="1709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0.8948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8079" y="4151375"/>
            <a:ext cx="189280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0.9057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4151375"/>
            <a:ext cx="202996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0.8897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4517136"/>
            <a:ext cx="11183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64748B"/>
                </a:solidFill>
                <a:latin typeface="Segoe UI"/>
              </a:rPr>
              <a:t>Internal arm is the best-scoring one on each task. On three of six only one internal arm ran, so no selection happened; only RTR-Fraud is a genuine two-model pick, and by 0.000855. Both columns aggregate each tab with that tab's own published weighting. Source: OverallEvaluationReport (1).xlsx, six tabs.</a:t>
            </a:r>
          </a:p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64748B"/>
                </a:solidFill>
                <a:latin typeface="Segoe UI"/>
              </a:rPr>
              <a:t>Sentiment Retention was rescored between two revisions of that workbook, so it is arguably provisional. It stays in because the rescore moved both arms — the incumbent led before it and leads by more after. Excluding it, the headline reads 98.5% rather than 97.4%.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2920" y="5084064"/>
            <a:ext cx="548640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519379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E00000"/>
                </a:solidFill>
                <a:latin typeface="Segoe UI"/>
              </a:rPr>
              <a:t>WHERE THE GAP IS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5413248"/>
            <a:ext cx="51206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The two tasks whose internal pipeline reads the source directly land at 99.2% of production. The four that put speech-to-text in front land at 96.4%. The gap is concentrated in transcription, not in labelling.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Caveat: those two are also where Gemini scores 0.9877 and 0.9992, so part of that closeness is a ceiling with little headroom to lose.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99632" y="5084064"/>
            <a:ext cx="5486400" cy="1133856"/>
          </a:xfrm>
          <a:prstGeom prst="roundRect">
            <a:avLst>
              <a:gd name="adj" fmla="val 6000"/>
            </a:avLst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82512" y="519379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007AD0"/>
                </a:solidFill>
                <a:latin typeface="Segoe UI"/>
              </a:rPr>
              <a:t>READ THESE TWO CAREFULLY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82512" y="5413248"/>
            <a:ext cx="51206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Accuracy is not a second, independent look. On RTR-Fraud, Tax-Invoice and Sentiment Telesale it is arithmetically identical to Precision or Recall.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Both internal leads are parity, not wins: RTR-Fraud's +0.0045 took 594 model calls against 198, and Sentiment Telesale's +0.0080 is 25 calls against 26 and turns on one dimension of four.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303C46"/>
                </a:solidFill>
                <a:latin typeface="Segoe UI"/>
              </a:rPr>
              <a:t>Benchmark results — cost and 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What the same six runs cost and how long they took — Gemini at OpenRouter list rates; the internal endpoint publishes no cost at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73152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Internal Model Migration — benchmark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07899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2706624" cy="676656"/>
          </a:xfrm>
          <a:prstGeom prst="roundRect">
            <a:avLst>
              <a:gd name="adj" fmla="val 6000"/>
            </a:avLst>
          </a:prstGeom>
          <a:solidFill>
            <a:srgbClr val="BE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38074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2C2454"/>
                </a:solidFill>
                <a:latin typeface="Segoe UI"/>
              </a:rPr>
              <a:t>$0.0012 – $0.0874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6367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8A8A8A"/>
                </a:solidFill>
                <a:latin typeface="Segoe UI"/>
              </a:rPr>
              <a:t>Gemini cost per item — three different units, not addable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8415" y="1298448"/>
            <a:ext cx="2706624" cy="676656"/>
          </a:xfrm>
          <a:prstGeom prst="roundRect">
            <a:avLst>
              <a:gd name="adj" fmla="val 6000"/>
            </a:avLst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138074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303C46"/>
                </a:solidFill>
                <a:latin typeface="Segoe UI"/>
              </a:rPr>
              <a:t>4.2× – 86.5×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16367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8A8A8A"/>
                </a:solidFill>
                <a:latin typeface="Segoe UI"/>
              </a:rPr>
              <a:t>slower per item on the internal GPU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298448"/>
            <a:ext cx="2706624" cy="676656"/>
          </a:xfrm>
          <a:prstGeom prst="roundRect">
            <a:avLst>
              <a:gd name="adj" fmla="val 6000"/>
            </a:avLst>
          </a:prstGeom>
          <a:solidFill>
            <a:srgbClr val="FFF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3" y="138074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8A5E00"/>
                </a:solidFill>
                <a:latin typeface="Segoe UI"/>
              </a:rPr>
              <a:t>not metered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3" y="16367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8A8A8A"/>
                </a:solidFill>
                <a:latin typeface="Segoe UI"/>
              </a:rPr>
              <a:t>internal cost — no GPU-hour or utilisation figure exists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9408" y="1298448"/>
            <a:ext cx="2706624" cy="676656"/>
          </a:xfrm>
          <a:prstGeom prst="roundRect">
            <a:avLst>
              <a:gd name="adj" fmla="val 6000"/>
            </a:avLst>
          </a:prstGeom>
          <a:solidFill>
            <a:srgbClr val="FFF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38074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8A5E00"/>
                </a:solidFill>
                <a:latin typeface="Segoe UI"/>
              </a:rPr>
              <a:t>not computable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6367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8A8A8A"/>
                </a:solidFill>
                <a:latin typeface="Segoe UI"/>
              </a:rPr>
              <a:t>break-even — three inputs are missing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48840"/>
            <a:ext cx="11183112" cy="310896"/>
          </a:xfrm>
          <a:prstGeom prst="rect">
            <a:avLst/>
          </a:prstGeom>
          <a:solidFill>
            <a:srgbClr val="303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212848"/>
            <a:ext cx="21671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Use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7792" y="2212848"/>
            <a:ext cx="180136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Gemini cost / 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2212848"/>
            <a:ext cx="10698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Gemini sec / item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212848"/>
            <a:ext cx="12527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Internal sec / item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2" y="2212848"/>
            <a:ext cx="8869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Slowdown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2212848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Whole round — Gemini → internal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459736"/>
            <a:ext cx="1118311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2505456"/>
            <a:ext cx="21671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RTR-Fraud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7792" y="2505456"/>
            <a:ext cx="1801367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$0.0012 / submission  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2505456"/>
            <a:ext cx="106984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28.5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8192" y="2505456"/>
            <a:ext cx="12527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119.9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5512" y="2505456"/>
            <a:ext cx="8869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4.2×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7072" y="2505456"/>
            <a:ext cx="296265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2.0 min → 16.9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724912"/>
            <a:ext cx="11183112" cy="265176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2770632"/>
            <a:ext cx="21671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Tax-Invoice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07792" y="2770632"/>
            <a:ext cx="1801367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$0.0874 / page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73752" y="2770632"/>
            <a:ext cx="106984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2.6 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2770632"/>
            <a:ext cx="12527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79.7 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0632"/>
            <a:ext cx="8869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30.7×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7072" y="2770632"/>
            <a:ext cx="296265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6.5 min → 3.3 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990088"/>
            <a:ext cx="1118311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3035808"/>
            <a:ext cx="21671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Sentiment QA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7792" y="3035808"/>
            <a:ext cx="1801367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$0.0533 / call  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73752" y="3035808"/>
            <a:ext cx="106984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2.5 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08192" y="3035808"/>
            <a:ext cx="12527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not measurable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25512" y="3035808"/>
            <a:ext cx="8869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77072" y="3035808"/>
            <a:ext cx="296265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7.4 min → not measurable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255264"/>
            <a:ext cx="11183112" cy="265176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3300984"/>
            <a:ext cx="21671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Sentiment MNP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07792" y="3300984"/>
            <a:ext cx="1801367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$0.0253 / call  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73752" y="3300984"/>
            <a:ext cx="106984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2.47 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08192" y="3300984"/>
            <a:ext cx="12527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103.1 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25512" y="3300984"/>
            <a:ext cx="8869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41.7×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77072" y="3300984"/>
            <a:ext cx="296265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5.4 min → 2.9 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3520440"/>
            <a:ext cx="1118311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" y="3566160"/>
            <a:ext cx="21671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Sentiment Telesale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07792" y="3566160"/>
            <a:ext cx="1801367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$0.0523 / call  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73752" y="3566160"/>
            <a:ext cx="106984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9.72 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08192" y="3566160"/>
            <a:ext cx="12527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72.1 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25512" y="3566160"/>
            <a:ext cx="8869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7.4×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77072" y="3566160"/>
            <a:ext cx="296265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6.0 min → 30.1 min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3785615"/>
            <a:ext cx="11183112" cy="265176"/>
          </a:xfrm>
          <a:prstGeom prst="rect">
            <a:avLst/>
          </a:prstGeom>
          <a:solidFill>
            <a:srgbClr val="F9F9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6072" y="3831335"/>
            <a:ext cx="21671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74151"/>
                </a:solidFill>
                <a:latin typeface="Segoe UI"/>
              </a:rPr>
              <a:t>Sentiment Retention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07792" y="3831335"/>
            <a:ext cx="1801367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$0.0205 / call  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73752" y="3831335"/>
            <a:ext cx="106984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6.78 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08192" y="3831335"/>
            <a:ext cx="12527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77.9 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25512" y="3831335"/>
            <a:ext cx="8869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11.5×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77072" y="3831335"/>
            <a:ext cx="296265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12.8 min → 2.1 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4151376"/>
            <a:ext cx="1118311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64748B"/>
                </a:solidFill>
                <a:latin typeface="Segoe UI"/>
              </a:rPr>
              <a:t>*  RTR-Fraud's rate assumes Gemini 2.5 Flash — that tab names no model at all. Priced instead at the Pro tier the other Gemini task here ran on (Gemini 3.1 Pro), the same run is $0.0077 per submission, 6.2× higher.</a:t>
            </a:r>
          </a:p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64748B"/>
                </a:solidFill>
                <a:latin typeface="Segoe UI"/>
              </a:rPr>
              <a:t>†  The four call tasks send audio, which bills at $1.00/1M against $0.30/1M for text, and the split is not published — so these four are upper bounds. Floors: QA $0.0230, MNP $0.0147, Telesale $0.0216, Retention $0.0094.</a:t>
            </a:r>
          </a:p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64748B"/>
                </a:solidFill>
                <a:latin typeface="Segoe UI"/>
              </a:rPr>
              <a:t>Sentiment QA's internal arm reads “cannot meansure” and its round was resumed over several days, so it cannot be timed. Its other configuration ran at 86.5× — the slowest of the set — shown here so the missing cell does not flatter the internal side.</a:t>
            </a:r>
          </a:p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64748B"/>
                </a:solidFill>
                <a:latin typeface="Segoe UI"/>
              </a:rPr>
              <a:t>Whole round is wall clock for the complete run under each side's own concurrency, not per-item latency × items. The two constructions differ: Sentiment MNP is 41.7× per item but 31.8× on the round.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" y="5065776"/>
            <a:ext cx="5486400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5800" y="517550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E00000"/>
                </a:solidFill>
                <a:latin typeface="Segoe UI"/>
              </a:rPr>
              <a:t>THE COST OF MIGRATING IS NOT IN THIS TABLE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5394960"/>
            <a:ext cx="512064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The internal endpoint is not metered. Not $0, not free and not n/a — neither source publishes a cost, price, GPU-hour or utilisation figure for it in any of its six tabs.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Every dollar above is what Gemini costs today, at list rates.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199632" y="5065776"/>
            <a:ext cx="5486400" cy="1115568"/>
          </a:xfrm>
          <a:prstGeom prst="roundRect">
            <a:avLst>
              <a:gd name="adj" fmla="val 6000"/>
            </a:avLst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82512" y="517550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007AD0"/>
                </a:solidFill>
                <a:latin typeface="Segoe UI"/>
              </a:rPr>
              <a:t>THE ASK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82512" y="5394960"/>
            <a:ext cx="512064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Break-even needs three numbers nobody has published yet: production volume per task, the internal endpoint's cost per GPU-hour and its throughput, and the cost of the speech-to-text stage.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74151"/>
                </a:solidFill>
                <a:latin typeface="Segoe UI"/>
              </a:rPr>
              <a:t>Asking for those three is a firmer position than a saving that cannot be evidenced.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2208</Words>
  <Application>Microsoft Office PowerPoint</Application>
  <PresentationFormat>Widescreen</PresentationFormat>
  <Paragraphs>457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Totrakool Khongsap</cp:lastModifiedBy>
  <cp:revision>5</cp:revision>
  <dcterms:created xsi:type="dcterms:W3CDTF">2013-01-27T09:14:16Z</dcterms:created>
  <dcterms:modified xsi:type="dcterms:W3CDTF">2026-08-03T08:50:43Z</dcterms:modified>
  <cp:category/>
</cp:coreProperties>
</file>